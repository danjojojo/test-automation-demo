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b678e8059174e67" /><Relationship Type="http://schemas.openxmlformats.org/officeDocument/2006/relationships/extended-properties" Target="/docProps/app.xml" Id="Re667f125e7ef460b" /><Relationship Type="http://schemas.openxmlformats.org/officeDocument/2006/relationships/officeDocument" Target="/ppt/presentation.xml" Id="R68f6ac6a88d5453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73ddaed127a4331"/>
  </p:sldMasterIdLst>
  <p:notesMasterIdLst>
    <p:notesMasterId xmlns:r="http://schemas.openxmlformats.org/officeDocument/2006/relationships" r:id="R99f37340a6114c0d"/>
  </p:notesMasterIdLst>
  <p:sldIdLst>
    <p:sldId xmlns:r="http://schemas.openxmlformats.org/officeDocument/2006/relationships" id="256" r:id="R239548811f5d4063"/>
    <p:sldId xmlns:r="http://schemas.openxmlformats.org/officeDocument/2006/relationships" id="257" r:id="Re4ea34d1281c42c7"/>
    <p:sldId xmlns:r="http://schemas.openxmlformats.org/officeDocument/2006/relationships" id="258" r:id="R14ecc4447f6843a9"/>
    <p:sldId xmlns:r="http://schemas.openxmlformats.org/officeDocument/2006/relationships" id="259" r:id="Re866c3352a074166"/>
    <p:sldId xmlns:r="http://schemas.openxmlformats.org/officeDocument/2006/relationships" id="260" r:id="R55a64d2f3d47432b"/>
    <p:sldId xmlns:r="http://schemas.openxmlformats.org/officeDocument/2006/relationships" id="261" r:id="R0fb81a50791a4ca3"/>
    <p:sldId xmlns:r="http://schemas.openxmlformats.org/officeDocument/2006/relationships" id="262" r:id="Rdc989f43db2a4bc0"/>
    <p:sldId xmlns:r="http://schemas.openxmlformats.org/officeDocument/2006/relationships" id="263" r:id="R457435e9dcb046bb"/>
    <p:sldId xmlns:r="http://schemas.openxmlformats.org/officeDocument/2006/relationships" id="264" r:id="R184c4a57f2994ec7"/>
    <p:sldId xmlns:r="http://schemas.openxmlformats.org/officeDocument/2006/relationships" id="265" r:id="R4d06313554164ac7"/>
    <p:sldId xmlns:r="http://schemas.openxmlformats.org/officeDocument/2006/relationships" id="266" r:id="R89fa7246227d479d"/>
    <p:sldId xmlns:r="http://schemas.openxmlformats.org/officeDocument/2006/relationships" id="267" r:id="Rd2effbcf85df417d"/>
    <p:sldId xmlns:r="http://schemas.openxmlformats.org/officeDocument/2006/relationships" id="268" r:id="R9e6b8e93a5bf4db1"/>
    <p:sldId xmlns:r="http://schemas.openxmlformats.org/officeDocument/2006/relationships" id="269" r:id="R666835f5cd794ac2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3ddaed127a4331" /><Relationship Type="http://schemas.openxmlformats.org/officeDocument/2006/relationships/theme" Target="/ppt/theme/theme1.xml" Id="Rda28567166f94b9f" /><Relationship Type="http://schemas.openxmlformats.org/officeDocument/2006/relationships/notesMaster" Target="/ppt/notesMasters/notesMaster1.xml" Id="R99f37340a6114c0d" /><Relationship Type="http://schemas.openxmlformats.org/officeDocument/2006/relationships/presProps" Target="/ppt/presProps.xml" Id="Rca83ef02074c4942" /><Relationship Type="http://schemas.openxmlformats.org/officeDocument/2006/relationships/viewProps" Target="/ppt/viewProps.xml" Id="R24c782dedeb44306" /><Relationship Type="http://schemas.openxmlformats.org/officeDocument/2006/relationships/tableStyles" Target="/ppt/tableStyles.xml" Id="R4396fd0631614054" /><Relationship Type="http://schemas.openxmlformats.org/officeDocument/2006/relationships/slide" Target="/ppt/slides/slide1.xml" Id="R239548811f5d4063" /><Relationship Type="http://schemas.openxmlformats.org/officeDocument/2006/relationships/slide" Target="/ppt/slides/slide2.xml" Id="Re4ea34d1281c42c7" /><Relationship Type="http://schemas.openxmlformats.org/officeDocument/2006/relationships/slide" Target="/ppt/slides/slide3.xml" Id="R14ecc4447f6843a9" /><Relationship Type="http://schemas.openxmlformats.org/officeDocument/2006/relationships/slide" Target="/ppt/slides/slide4.xml" Id="Re866c3352a074166" /><Relationship Type="http://schemas.openxmlformats.org/officeDocument/2006/relationships/slide" Target="/ppt/slides/slide5.xml" Id="R55a64d2f3d47432b" /><Relationship Type="http://schemas.openxmlformats.org/officeDocument/2006/relationships/slide" Target="/ppt/slides/slide6.xml" Id="R0fb81a50791a4ca3" /><Relationship Type="http://schemas.openxmlformats.org/officeDocument/2006/relationships/slide" Target="/ppt/slides/slide7.xml" Id="Rdc989f43db2a4bc0" /><Relationship Type="http://schemas.openxmlformats.org/officeDocument/2006/relationships/slide" Target="/ppt/slides/slide8.xml" Id="R457435e9dcb046bb" /><Relationship Type="http://schemas.openxmlformats.org/officeDocument/2006/relationships/slide" Target="/ppt/slides/slide9.xml" Id="R184c4a57f2994ec7" /><Relationship Type="http://schemas.openxmlformats.org/officeDocument/2006/relationships/slide" Target="/ppt/slides/slide10.xml" Id="R4d06313554164ac7" /><Relationship Type="http://schemas.openxmlformats.org/officeDocument/2006/relationships/slide" Target="/ppt/slides/slide11.xml" Id="R89fa7246227d479d" /><Relationship Type="http://schemas.openxmlformats.org/officeDocument/2006/relationships/slide" Target="/ppt/slides/slide12.xml" Id="Rd2effbcf85df417d" /><Relationship Type="http://schemas.openxmlformats.org/officeDocument/2006/relationships/slide" Target="/ppt/slides/slide13.xml" Id="R9e6b8e93a5bf4db1" /><Relationship Type="http://schemas.openxmlformats.org/officeDocument/2006/relationships/slide" Target="/ppt/slides/slide14.xml" Id="R666835f5cd794ac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0d332201841841c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8b76b235f9a4b24" /><Relationship Type="http://schemas.openxmlformats.org/officeDocument/2006/relationships/notesMaster" Target="/ppt/notesMasters/notesMaster1.xml" Id="R90afa1eacc234d9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4facf1507684fc0" /><Relationship Type="http://schemas.openxmlformats.org/officeDocument/2006/relationships/notesMaster" Target="/ppt/notesMasters/notesMaster1.xml" Id="R8134c398d9c74fe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6b751d76e8e40d3" /><Relationship Type="http://schemas.openxmlformats.org/officeDocument/2006/relationships/notesMaster" Target="/ppt/notesMasters/notesMaster1.xml" Id="Rbf91efa8fa964c8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d379b2048424986" /><Relationship Type="http://schemas.openxmlformats.org/officeDocument/2006/relationships/notesMaster" Target="/ppt/notesMasters/notesMaster1.xml" Id="Ra00f8891a725457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4570c0e55fd4d51" /><Relationship Type="http://schemas.openxmlformats.org/officeDocument/2006/relationships/notesMaster" Target="/ppt/notesMasters/notesMaster1.xml" Id="Ra65495a7aeb04ea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107482c58914cd2" /><Relationship Type="http://schemas.openxmlformats.org/officeDocument/2006/relationships/notesMaster" Target="/ppt/notesMasters/notesMaster1.xml" Id="Rf12ea2b5d11a454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d08e5fd80544a64" /><Relationship Type="http://schemas.openxmlformats.org/officeDocument/2006/relationships/notesMaster" Target="/ppt/notesMasters/notesMaster1.xml" Id="R350f60248d094dd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dbc3f70113c43be" /><Relationship Type="http://schemas.openxmlformats.org/officeDocument/2006/relationships/notesMaster" Target="/ppt/notesMasters/notesMaster1.xml" Id="R41c3eec08e70401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c36f2570b784d5d" /><Relationship Type="http://schemas.openxmlformats.org/officeDocument/2006/relationships/notesMaster" Target="/ppt/notesMasters/notesMaster1.xml" Id="R821d89b643ca4a3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6f4f2d4e4b94126" /><Relationship Type="http://schemas.openxmlformats.org/officeDocument/2006/relationships/notesMaster" Target="/ppt/notesMasters/notesMaster1.xml" Id="R37e635075e4a434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99786970f9e4b1c" /><Relationship Type="http://schemas.openxmlformats.org/officeDocument/2006/relationships/notesMaster" Target="/ppt/notesMasters/notesMaster1.xml" Id="R8c62db25b1ef43c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cf7e3b273a843bb" /><Relationship Type="http://schemas.openxmlformats.org/officeDocument/2006/relationships/notesMaster" Target="/ppt/notesMasters/notesMaster1.xml" Id="Rf1f3a4b25b1549d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dd5d98c20ce4711" /><Relationship Type="http://schemas.openxmlformats.org/officeDocument/2006/relationships/notesMaster" Target="/ppt/notesMasters/notesMaster1.xml" Id="R79137628dbff4aa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f2eca950f7f4334" /><Relationship Type="http://schemas.openxmlformats.org/officeDocument/2006/relationships/notesMaster" Target="/ppt/notesMasters/notesMaster1.xml" Id="R3ae9c9266972464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e76559c3fd4a9d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560cfc2675224b74" /><Relationship Type="http://schemas.openxmlformats.org/officeDocument/2006/relationships/slideLayout" Target="/ppt/slideLayouts/slideLayout2.xml" Id="R0fe4acfb05e041c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e4acfb05e041c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f00b0fe402f4525" /><Relationship Type="http://schemas.openxmlformats.org/officeDocument/2006/relationships/image" Target="/ppt/media/image.png" Id="Rdbe52f85d7a74b6c" /><Relationship Type="http://schemas.openxmlformats.org/officeDocument/2006/relationships/notesSlide" Target="/ppt/notesSlides/notesSlide1.xml" Id="R45c083a9e0c5437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70ccc7d4fb74980" /><Relationship Type="http://schemas.openxmlformats.org/officeDocument/2006/relationships/notesSlide" Target="/ppt/notesSlides/notesSlide2.xml" Id="R8c753b90349b427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0094c4703f4bb6" /><Relationship Type="http://schemas.openxmlformats.org/officeDocument/2006/relationships/notesSlide" Target="/ppt/notesSlides/notesSlide3.xml" Id="Rcb79fb07b1d24f1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81ccd5358694f49" /><Relationship Type="http://schemas.openxmlformats.org/officeDocument/2006/relationships/image" Target="/ppt/media/image2.png" Id="R4a9b816d93804aef" /><Relationship Type="http://schemas.openxmlformats.org/officeDocument/2006/relationships/notesSlide" Target="/ppt/notesSlides/notesSlide4.xml" Id="R8a54b39dc1d6455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29b85247678460e" /><Relationship Type="http://schemas.openxmlformats.org/officeDocument/2006/relationships/notesSlide" Target="/ppt/notesSlides/notesSlide5.xml" Id="R675695cadeda41e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3c4e704ad894622" /><Relationship Type="http://schemas.openxmlformats.org/officeDocument/2006/relationships/notesSlide" Target="/ppt/notesSlides/notesSlide6.xml" Id="R5649eb795b08404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e642bf3c4e741ba" /><Relationship Type="http://schemas.openxmlformats.org/officeDocument/2006/relationships/notesSlide" Target="/ppt/notesSlides/notesSlide7.xml" Id="R30d5d5e9f6804ea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22c07b024a94724" /><Relationship Type="http://schemas.openxmlformats.org/officeDocument/2006/relationships/notesSlide" Target="/ppt/notesSlides/notesSlide8.xml" Id="R67c80214852440f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96800cb4da4b2c" /><Relationship Type="http://schemas.openxmlformats.org/officeDocument/2006/relationships/image" Target="/ppt/media/image3.png" Id="R6153993d6ad44f79" /><Relationship Type="http://schemas.openxmlformats.org/officeDocument/2006/relationships/notesSlide" Target="/ppt/notesSlides/notesSlide9.xml" Id="R952acaac431144f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e54ae6848d04c4b" /><Relationship Type="http://schemas.openxmlformats.org/officeDocument/2006/relationships/notesSlide" Target="/ppt/notesSlides/notesSlide10.xml" Id="R0ce2694d74df4e0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eccde7b91ac4b2f" /><Relationship Type="http://schemas.openxmlformats.org/officeDocument/2006/relationships/notesSlide" Target="/ppt/notesSlides/notesSlide11.xml" Id="Rc95be7fff252467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f55e3d65d554730" /><Relationship Type="http://schemas.openxmlformats.org/officeDocument/2006/relationships/notesSlide" Target="/ppt/notesSlides/notesSlide12.xml" Id="Ra5709349e9c642c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10c57a5ea2846af" /><Relationship Type="http://schemas.openxmlformats.org/officeDocument/2006/relationships/notesSlide" Target="/ppt/notesSlides/notesSlide13.xml" Id="R2d7d3169a3c2404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0d645eefad40e8" /><Relationship Type="http://schemas.openxmlformats.org/officeDocument/2006/relationships/notesSlide" Target="/ppt/notesSlides/notesSlide14.xml" Id="Rf9d9c7f187424b9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bg">
            <a:extLst xmlns:a="http://schemas.openxmlformats.org/drawingml/2006/main">
              <a:ext uri="{FF2B5EF4-FFF2-40B4-BE49-F238E27FC236}">
                <a16:creationId xmlns:a16="http://schemas.microsoft.com/office/drawing/2014/main" id="{9E77904A-A1B5-4720-9642-33A00E7F9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</p:spPr>
      </p:sp>
      <p:sp>
        <p:nvSpPr>
          <p:cNvPr id="2" name="pill-TEACHING DECK">
            <a:extLst xmlns:a="http://schemas.openxmlformats.org/drawingml/2006/main">
              <a:ext uri="{FF2B5EF4-FFF2-40B4-BE49-F238E27FC236}">
                <a16:creationId xmlns:a16="http://schemas.microsoft.com/office/drawing/2014/main" id="{742262D1-023F-481F-BC83-6984291FE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83309"/>
            <a:ext cx="24765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5B32E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A20A50-3C8A-4B8E-B417-29F83B5AA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24050"/>
            <a:ext cx="2133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TEACHING DECK</a:t>
            </a:r>
          </a:p>
        </p:txBody>
      </p:sp>
      <p:sp>
        <p:nvSpPr>
          <p:cNvPr id="4" name="cover-title">
            <a:extLst xmlns:a="http://schemas.openxmlformats.org/drawingml/2006/main">
              <a:ext uri="{FF2B5EF4-FFF2-40B4-BE49-F238E27FC236}">
                <a16:creationId xmlns:a16="http://schemas.microsoft.com/office/drawing/2014/main" id="{4FCF0E6D-9EC4-4280-ACAC-6A5141897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09850"/>
            <a:ext cx="5391150" cy="403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2000"/>
              </a:lnSpc>
              <a:buNone/>
              <a:defRPr sz="7200" b="1" i="0">
                <a:solidFill>
                  <a:srgbClr val="FFFFFF"/>
                </a:solidFill>
              </a:defRPr>
            </a:pPr>
            <a:r>
              <a:rPr sz="7200" b="1" i="0">
                <a:solidFill>
                  <a:srgbClr val="FFFFFF"/>
                </a:solidFill>
              </a:rPr>
              <a:t>Spec-Driven</a:t>
            </a:r>
          </a:p>
          <a:p xmlns:a="http://schemas.openxmlformats.org/drawingml/2006/main">
            <a:pPr>
              <a:lnSpc>
                <a:spcPct val="92000"/>
              </a:lnSpc>
              <a:buNone/>
              <a:defRPr sz="7200" b="1" i="0">
                <a:solidFill>
                  <a:srgbClr val="FFFFFF"/>
                </a:solidFill>
              </a:defRPr>
            </a:pPr>
            <a:r>
              <a:rPr sz="7200" b="1" i="0">
                <a:solidFill>
                  <a:srgbClr val="FFFFFF"/>
                </a:solidFill>
              </a:rPr>
              <a:t>API Test</a:t>
            </a:r>
          </a:p>
          <a:p xmlns:a="http://schemas.openxmlformats.org/drawingml/2006/main">
            <a:pPr>
              <a:lnSpc>
                <a:spcPct val="92000"/>
              </a:lnSpc>
              <a:buNone/>
              <a:defRPr sz="7200" b="1" i="0">
                <a:solidFill>
                  <a:srgbClr val="FFFFFF"/>
                </a:solidFill>
              </a:defRPr>
            </a:pPr>
            <a:r>
              <a:rPr sz="7200" b="1" i="0">
                <a:solidFill>
                  <a:srgbClr val="FFFFFF"/>
                </a:solidFill>
              </a:rPr>
              <a:t>Automation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1F6355-2E4B-43C4-B183-FDF48DC49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953250"/>
            <a:ext cx="76962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2400" b="0" i="0">
                <a:solidFill>
                  <a:srgbClr val="D6F2C8"/>
                </a:solidFill>
              </a:defRPr>
            </a:pPr>
            <a:r>
              <a:rPr sz="2400" b="0" i="0">
                <a:solidFill>
                  <a:srgbClr val="D6F2C8"/>
                </a:solidFill>
              </a:rPr>
              <a:t>Given an OpenAPI spec, generate executable Playwright API tests.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466678-8625-41A1-986B-11EE39BF3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134350"/>
            <a:ext cx="9144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00" b="1" i="0">
                <a:solidFill>
                  <a:srgbClr val="2DD4BF"/>
                </a:solidFill>
              </a:defRPr>
            </a:pPr>
            <a:r>
              <a:rPr sz="2100" b="1" i="0">
                <a:solidFill>
                  <a:srgbClr val="2DD4BF"/>
                </a:solidFill>
              </a:rPr>
              <a:t>spec in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318EC0-B7D0-4A72-BE0A-098C07E3E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8077200"/>
            <a:ext cx="5905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0" b="1" i="0">
                <a:solidFill>
                  <a:srgbClr val="CBD5E1"/>
                </a:solidFill>
              </a:defRPr>
            </a:pPr>
            <a:r>
              <a:rPr sz="2850" b="1" i="0">
                <a:solidFill>
                  <a:srgbClr val="CBD5E1"/>
                </a:solidFill>
              </a:rPr>
              <a:t>-&gt;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110191-2AA4-44C1-80EF-71955A0D8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8134350"/>
            <a:ext cx="11239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00" b="1" i="0">
                <a:solidFill>
                  <a:srgbClr val="FACC15"/>
                </a:solidFill>
              </a:defRPr>
            </a:pPr>
            <a:r>
              <a:rPr sz="2100" b="1" i="0">
                <a:solidFill>
                  <a:srgbClr val="FACC15"/>
                </a:solidFill>
              </a:rPr>
              <a:t>tests out</a:t>
            </a:r>
          </a:p>
        </p:txBody>
      </p:sp>
      <p:pic>
        <p:nvPicPr>
          <p:cNvPr id="9" name="openapi-logo-stacke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e52f85d7a74b6c"/>
          <a:stretch xmlns:a="http://schemas.openxmlformats.org/drawingml/2006/main"/>
        </p:blipFill>
        <p:spPr>
          <a:xfrm xmlns:a="http://schemas.openxmlformats.org/drawingml/2006/main">
            <a:off x="12195785" y="1862138"/>
            <a:ext cx="4088179" cy="4095750"/>
          </a:xfrm>
          <a:prstGeom xmlns:a="http://schemas.openxmlformats.org/drawingml/2006/main" prst="rect">
            <a:avLst/>
          </a:prstGeom>
        </p:spPr>
      </p:pic>
      <p:sp>
        <p:nvSpPr>
          <p:cNvPr id="10" name="code-block">
            <a:extLst xmlns:a="http://schemas.openxmlformats.org/drawingml/2006/main">
              <a:ext uri="{FF2B5EF4-FFF2-40B4-BE49-F238E27FC236}">
                <a16:creationId xmlns:a16="http://schemas.microsoft.com/office/drawing/2014/main" id="{4AE48D9A-48BB-41AC-914D-888D90648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281738"/>
            <a:ext cx="5429250" cy="2143125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0B1220"/>
          </a:solidFill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6C8DF0-89B9-4EB3-9721-5FCE862B5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1950" y="6515100"/>
            <a:ext cx="4895850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875" b="0" i="0">
                <a:solidFill>
                  <a:srgbClr val="D1E7FF"/>
                </a:solidFill>
              </a:defRPr>
            </a:pPr>
            <a:r>
              <a:rPr sz="1875" b="0" i="0">
                <a:solidFill>
                  <a:srgbClr val="D1E7FF"/>
                </a:solidFill>
              </a:rPr>
              <a:t>openapi.yaml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875" b="0" i="0">
                <a:solidFill>
                  <a:srgbClr val="D1E7FF"/>
                </a:solidFill>
              </a:defRPr>
            </a:pPr>
            <a:r>
              <a:rPr sz="1875" b="0" i="0">
                <a:solidFill>
                  <a:srgbClr val="D1E7FF"/>
                </a:solidFill>
              </a:rPr>
              <a:t>  -&gt; generate-tests.ts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875" b="0" i="0">
                <a:solidFill>
                  <a:srgbClr val="D1E7FF"/>
                </a:solidFill>
              </a:defRPr>
            </a:pPr>
            <a:r>
              <a:rPr sz="1875" b="0" i="0">
                <a:solidFill>
                  <a:srgbClr val="D1E7FF"/>
                </a:solidFill>
              </a:rPr>
              <a:t>  -&gt; generate-edge-tests.ts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875" b="0" i="0">
                <a:solidFill>
                  <a:srgbClr val="D1E7FF"/>
                </a:solidFill>
              </a:defRPr>
            </a:pPr>
            <a:r>
              <a:rPr sz="1875" b="0" i="0">
                <a:solidFill>
                  <a:srgbClr val="D1E7FF"/>
                </a:solidFill>
              </a:rPr>
              <a:t>  -&gt; openapi.spec.ts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875" b="0" i="0">
                <a:solidFill>
                  <a:srgbClr val="D1E7FF"/>
                </a:solidFill>
              </a:defRPr>
            </a:pPr>
            <a:r>
              <a:rPr sz="1875" b="0" i="0">
                <a:solidFill>
                  <a:srgbClr val="D1E7FF"/>
                </a:solidFill>
              </a:rPr>
              <a:t>  -&gt; playwright test</a:t>
            </a:r>
          </a:p>
        </p:txBody>
      </p:sp>
    </p:spTree>
    <p:extLst>
      <p:ext uri="{BB962C8B-B14F-4D97-AF65-F5344CB8AC3E}">
        <p14:creationId xmlns:p14="http://schemas.microsoft.com/office/powerpoint/2010/main" val="78438415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g">
            <a:extLst xmlns:a="http://schemas.openxmlformats.org/drawingml/2006/main">
              <a:ext uri="{FF2B5EF4-FFF2-40B4-BE49-F238E27FC236}">
                <a16:creationId xmlns:a16="http://schemas.microsoft.com/office/drawing/2014/main" id="{67AFBF79-BD7A-471F-BC70-06860DEF7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0329ED5-8EF5-4449-A34E-72E3A21B2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"/>
            <a:ext cx="89344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8000"/>
              </a:lnSpc>
              <a:buNone/>
              <a:defRPr sz="4200" b="1" i="0">
                <a:solidFill>
                  <a:srgbClr val="172033"/>
                </a:solidFill>
              </a:defRPr>
            </a:pPr>
            <a:r>
              <a:rPr sz="4200" b="1" i="0">
                <a:solidFill>
                  <a:srgbClr val="172033"/>
                </a:solidFill>
              </a:rPr>
              <a:t>Why generate tests from OpenAPI?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7926C4F9-15BC-42C1-8AA1-C53BC729C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314450"/>
            <a:ext cx="75438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75" b="0" i="0">
                <a:solidFill>
                  <a:srgbClr val="596579"/>
                </a:solidFill>
              </a:defRPr>
            </a:pPr>
            <a:r>
              <a:rPr sz="1875" b="0" i="0">
                <a:solidFill>
                  <a:srgbClr val="596579"/>
                </a:solidFill>
              </a:rPr>
              <a:t>Because the spec already contains the contract learners need to verify.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BA318B-E935-496F-B35D-D58877545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95700"/>
            <a:ext cx="8001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400" b="1" i="0">
                <a:solidFill>
                  <a:srgbClr val="65B32E"/>
                </a:solidFill>
              </a:defRPr>
            </a:pPr>
            <a:r>
              <a:rPr sz="5400" b="1" i="0">
                <a:solidFill>
                  <a:srgbClr val="65B32E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8E6E49-00E9-4DF9-97B7-0A89EA73F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600450"/>
            <a:ext cx="15601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0" b="1" i="0">
                <a:solidFill>
                  <a:srgbClr val="172033"/>
                </a:solidFill>
              </a:defRPr>
            </a:pPr>
            <a:r>
              <a:rPr sz="2550" b="1" i="0">
                <a:solidFill>
                  <a:srgbClr val="172033"/>
                </a:solidFill>
              </a:rPr>
              <a:t>The contract is already written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FEBE6A-5E64-4083-A9EB-87CA71BFF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057650"/>
            <a:ext cx="95821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6000"/>
              </a:lnSpc>
              <a:buNone/>
              <a:defRPr sz="1800" b="0" i="0">
                <a:solidFill>
                  <a:srgbClr val="596579"/>
                </a:solidFill>
              </a:defRPr>
            </a:pPr>
            <a:r>
              <a:rPr sz="1800" b="0" i="0">
                <a:solidFill>
                  <a:srgbClr val="596579"/>
                </a:solidFill>
              </a:rPr>
              <a:t>`paths`, methods, parameters, responses, and examples describe how the API should behave.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3DEDCA-09F7-4D4A-BFC4-C1EFA0B08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00650"/>
            <a:ext cx="8001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400" b="1" i="0">
                <a:solidFill>
                  <a:srgbClr val="2563EB"/>
                </a:solidFill>
              </a:defRPr>
            </a:pPr>
            <a:r>
              <a:rPr sz="5400" b="1" i="0">
                <a:solidFill>
                  <a:srgbClr val="2563EB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BDB067-93D4-4D1A-B25F-4750BB44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238750"/>
            <a:ext cx="15601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0" b="1" i="0">
                <a:solidFill>
                  <a:srgbClr val="172033"/>
                </a:solidFill>
              </a:defRPr>
            </a:pPr>
            <a:r>
              <a:rPr sz="2550" b="1" i="0">
                <a:solidFill>
                  <a:srgbClr val="172033"/>
                </a:solidFill>
              </a:rPr>
              <a:t>Repetition moves into codegen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7E8307-15A0-46D7-9C81-0EAB2EAC0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715000"/>
            <a:ext cx="112966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6000"/>
              </a:lnSpc>
              <a:buNone/>
              <a:defRPr sz="1800" b="0" i="0">
                <a:solidFill>
                  <a:srgbClr val="596579"/>
                </a:solidFill>
              </a:defRPr>
            </a:pPr>
            <a:r>
              <a:rPr sz="1800" b="0" i="0">
                <a:solidFill>
                  <a:srgbClr val="596579"/>
                </a:solidFill>
              </a:rPr>
              <a:t>The generator writes the boring parts: request calls, status checks, content type checks, and expected bodies.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45A361-FB05-464C-A181-618F9FC7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705600"/>
            <a:ext cx="8001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400" b="1" i="0">
                <a:solidFill>
                  <a:srgbClr val="F97316"/>
                </a:solidFill>
              </a:defRPr>
            </a:pPr>
            <a:r>
              <a:rPr sz="5400" b="1" i="0">
                <a:solidFill>
                  <a:srgbClr val="F97316"/>
                </a:solidFill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5B3C91-CAC4-4774-9738-CF103BFA6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6610350"/>
            <a:ext cx="15601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0" b="1" i="0">
                <a:solidFill>
                  <a:srgbClr val="172033"/>
                </a:solidFill>
              </a:defRPr>
            </a:pPr>
            <a:r>
              <a:rPr sz="2550" b="1" i="0">
                <a:solidFill>
                  <a:srgbClr val="172033"/>
                </a:solidFill>
              </a:rPr>
              <a:t>One source connects teams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42CE8A-1473-4CDB-9CAB-1DE01C083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067550"/>
            <a:ext cx="73342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6000"/>
              </a:lnSpc>
              <a:buNone/>
              <a:defRPr sz="1800" b="0" i="0">
                <a:solidFill>
                  <a:srgbClr val="596579"/>
                </a:solidFill>
              </a:defRPr>
            </a:pPr>
            <a:r>
              <a:rPr sz="1800" b="0" i="0">
                <a:solidFill>
                  <a:srgbClr val="596579"/>
                </a:solidFill>
              </a:rPr>
              <a:t>API, docs, and tests can all point back to the same OpenAPI document.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5BF1CB-A000-4E65-B58B-8A9D74F78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601200"/>
            <a:ext cx="166497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50" b="0" i="0">
                <a:solidFill>
                  <a:srgbClr val="8B7D68"/>
                </a:solidFill>
              </a:defRPr>
            </a:pPr>
            <a:r>
              <a:rPr sz="1050" b="0" i="0">
                <a:solidFill>
                  <a:srgbClr val="8B7D68"/>
                </a:solidFill>
              </a:rPr>
              <a:t>Source anchors: Playwright API request fixture; OpenAPI code generation concepts</a:t>
            </a:r>
          </a:p>
        </p:txBody>
      </p:sp>
    </p:spTree>
    <p:extLst>
      <p:ext uri="{BB962C8B-B14F-4D97-AF65-F5344CB8AC3E}">
        <p14:creationId xmlns:p14="http://schemas.microsoft.com/office/powerpoint/2010/main" val="130293916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g">
            <a:extLst xmlns:a="http://schemas.openxmlformats.org/drawingml/2006/main">
              <a:ext uri="{FF2B5EF4-FFF2-40B4-BE49-F238E27FC236}">
                <a16:creationId xmlns:a16="http://schemas.microsoft.com/office/drawing/2014/main" id="{6DA31DD7-439E-4F47-8E5D-958F83BC5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7803CE8-3C68-4985-8D48-2CA735FA4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"/>
            <a:ext cx="676275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8000"/>
              </a:lnSpc>
              <a:buNone/>
              <a:defRPr sz="4200" b="1" i="0">
                <a:solidFill>
                  <a:srgbClr val="172033"/>
                </a:solidFill>
              </a:defRPr>
            </a:pPr>
            <a:r>
              <a:rPr sz="4200" b="1" i="0">
                <a:solidFill>
                  <a:srgbClr val="172033"/>
                </a:solidFill>
              </a:rPr>
              <a:t>Project workflow overview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BFC2F92D-D3A0-4BBB-8ABD-FFF22C1EB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43100"/>
            <a:ext cx="79438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75" b="0" i="0">
                <a:solidFill>
                  <a:srgbClr val="596579"/>
                </a:solidFill>
              </a:defRPr>
            </a:pPr>
            <a:r>
              <a:rPr sz="1875" b="0" i="0">
                <a:solidFill>
                  <a:srgbClr val="596579"/>
                </a:solidFill>
              </a:rPr>
              <a:t>The repo teaches both a local demo loop and the final provided-spec loop.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ADA706-39E7-45FB-935C-2402F8A66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90800"/>
            <a:ext cx="80581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0" b="1" i="0">
                <a:solidFill>
                  <a:srgbClr val="2F7D32"/>
                </a:solidFill>
              </a:defRPr>
            </a:pPr>
            <a:r>
              <a:rPr sz="2850" b="1" i="0">
                <a:solidFill>
                  <a:srgbClr val="2F7D32"/>
                </a:solidFill>
              </a:rPr>
              <a:t>Demo path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364AB9-AF9A-40F0-A81D-87F358B40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9950"/>
            <a:ext cx="2095500" cy="895350"/>
          </a:xfrm>
          <a:prstGeom xmlns:a="http://schemas.openxmlformats.org/drawingml/2006/main" prst="roundRect">
            <a:avLst>
              <a:gd name="adj" fmla="val 25532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B8E00F-D333-4772-86F3-9363A3651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1752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75" b="1" i="0">
                <a:solidFill>
                  <a:srgbClr val="65B32E"/>
                </a:solidFill>
              </a:defRPr>
            </a:pPr>
            <a:r>
              <a:rPr sz="1875" b="1" i="0">
                <a:solidFill>
                  <a:srgbClr val="65B32E"/>
                </a:solidFill>
              </a:rPr>
              <a:t>OpenAPI spec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718A4D-8BAA-4132-9928-C6E574853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400550"/>
            <a:ext cx="1714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350" b="0" i="0">
                <a:solidFill>
                  <a:srgbClr val="596579"/>
                </a:solidFill>
              </a:defRPr>
            </a:pPr>
            <a:r>
              <a:rPr sz="1350" b="0" i="0">
                <a:solidFill>
                  <a:srgbClr val="596579"/>
                </a:solidFill>
              </a:rPr>
              <a:t>sample with examples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EAE47C-FBE3-4625-930A-D6EC57A8B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10000"/>
            <a:ext cx="5905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0" b="1" i="0">
                <a:solidFill>
                  <a:srgbClr val="596579"/>
                </a:solidFill>
              </a:defRPr>
            </a:pPr>
            <a:r>
              <a:rPr sz="2850" b="1" i="0">
                <a:solidFill>
                  <a:srgbClr val="596579"/>
                </a:solidFill>
              </a:rPr>
              <a:t>-&gt;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A5FC0A-48CE-4AEF-8882-829D9D068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295650"/>
            <a:ext cx="2095500" cy="895350"/>
          </a:xfrm>
          <a:prstGeom xmlns:a="http://schemas.openxmlformats.org/drawingml/2006/main" prst="roundRect">
            <a:avLst>
              <a:gd name="adj" fmla="val 25532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179D0C-C21F-400B-8C8A-F09BEA158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600450"/>
            <a:ext cx="1752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75" b="1" i="0">
                <a:solidFill>
                  <a:srgbClr val="65B32E"/>
                </a:solidFill>
              </a:defRPr>
            </a:pPr>
            <a:r>
              <a:rPr sz="1875" b="1" i="0">
                <a:solidFill>
                  <a:srgbClr val="65B32E"/>
                </a:solidFill>
              </a:rPr>
              <a:t>Express API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1EA9D0-84FE-40AB-BC8B-5EF5B0E6E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286250"/>
            <a:ext cx="1295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350" b="0" i="0">
                <a:solidFill>
                  <a:srgbClr val="596579"/>
                </a:solidFill>
              </a:defRPr>
            </a:pPr>
            <a:r>
              <a:rPr sz="1350" b="0" i="0">
                <a:solidFill>
                  <a:srgbClr val="596579"/>
                </a:solidFill>
              </a:rPr>
              <a:t>generated routes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45AC87-F68F-42A0-9F73-647E29527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810000"/>
            <a:ext cx="5905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0" b="1" i="0">
                <a:solidFill>
                  <a:srgbClr val="596579"/>
                </a:solidFill>
              </a:defRPr>
            </a:pPr>
            <a:r>
              <a:rPr sz="2850" b="1" i="0">
                <a:solidFill>
                  <a:srgbClr val="596579"/>
                </a:solidFill>
              </a:rPr>
              <a:t>-&gt;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86C7A7-9E9F-4001-B36E-C5D064216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409950"/>
            <a:ext cx="2095500" cy="895350"/>
          </a:xfrm>
          <a:prstGeom xmlns:a="http://schemas.openxmlformats.org/drawingml/2006/main" prst="roundRect">
            <a:avLst>
              <a:gd name="adj" fmla="val 25532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F04EDD-AC82-4FC8-8D80-86F797D33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714750"/>
            <a:ext cx="1752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75" b="1" i="0">
                <a:solidFill>
                  <a:srgbClr val="65B32E"/>
                </a:solidFill>
              </a:defRPr>
            </a:pPr>
            <a:r>
              <a:rPr sz="1875" b="1" i="0">
                <a:solidFill>
                  <a:srgbClr val="65B32E"/>
                </a:solidFill>
              </a:rPr>
              <a:t>Playwright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F87147-9DC0-4C8C-A07A-FB49B49EC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400550"/>
            <a:ext cx="1181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350" b="0" i="0">
                <a:solidFill>
                  <a:srgbClr val="596579"/>
                </a:solidFill>
              </a:defRPr>
            </a:pPr>
            <a:r>
              <a:rPr sz="1350" b="0" i="0">
                <a:solidFill>
                  <a:srgbClr val="596579"/>
                </a:solidFill>
              </a:rPr>
              <a:t>generated tests</a:t>
            </a:r>
          </a:p>
        </p:txBody>
      </p:sp>
      <p:sp>
        <p:nvSpPr>
          <p:cNvPr id="16" name="code-block">
            <a:extLst xmlns:a="http://schemas.openxmlformats.org/drawingml/2006/main">
              <a:ext uri="{FF2B5EF4-FFF2-40B4-BE49-F238E27FC236}">
                <a16:creationId xmlns:a16="http://schemas.microsoft.com/office/drawing/2014/main" id="{4863F5B6-9B1B-4835-9EA6-BEE7DF659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03787"/>
            <a:ext cx="8048625" cy="1104595"/>
          </a:xfrm>
          <a:prstGeom xmlns:a="http://schemas.openxmlformats.org/drawingml/2006/main" prst="roundRect">
            <a:avLst>
              <a:gd name="adj" fmla="val 17246"/>
            </a:avLst>
          </a:prstGeom>
          <a:solidFill xmlns:a="http://schemas.openxmlformats.org/drawingml/2006/main">
            <a:srgbClr val="111827"/>
          </a:solidFill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135871-13D2-419A-94BF-0B03FCEF2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238750"/>
            <a:ext cx="75247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800" b="0" i="0">
                <a:solidFill>
                  <a:srgbClr val="D1E7FF"/>
                </a:solidFill>
              </a:defRPr>
            </a:pPr>
            <a:r>
              <a:rPr sz="1800" b="0" i="0">
                <a:solidFill>
                  <a:srgbClr val="D1E7FF"/>
                </a:solidFill>
              </a:rPr>
              <a:t>npm run generate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800" b="0" i="0">
                <a:solidFill>
                  <a:srgbClr val="D1E7FF"/>
                </a:solidFill>
              </a:defRPr>
            </a:pPr>
            <a:r>
              <a:rPr sz="1800" b="0" i="0">
                <a:solidFill>
                  <a:srgbClr val="D1E7FF"/>
                </a:solidFill>
              </a:rPr>
              <a:t>npm test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71C758-1E31-4CDA-B921-34BB92F2B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590800"/>
            <a:ext cx="80581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0" b="1" i="0">
                <a:solidFill>
                  <a:srgbClr val="2563EB"/>
                </a:solidFill>
              </a:defRPr>
            </a:pPr>
            <a:r>
              <a:rPr sz="2850" b="1" i="0">
                <a:solidFill>
                  <a:srgbClr val="2563EB"/>
                </a:solidFill>
              </a:rPr>
              <a:t>Real API path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05A077-FA9E-459E-90D2-8D38E5D95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409950"/>
            <a:ext cx="2095500" cy="895350"/>
          </a:xfrm>
          <a:prstGeom xmlns:a="http://schemas.openxmlformats.org/drawingml/2006/main" prst="roundRect">
            <a:avLst>
              <a:gd name="adj" fmla="val 25532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31ACB0-BDA6-4FF0-9392-D84AAEC52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714750"/>
            <a:ext cx="1752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75" b="1" i="0">
                <a:solidFill>
                  <a:srgbClr val="2563EB"/>
                </a:solidFill>
              </a:defRPr>
            </a:pPr>
            <a:r>
              <a:rPr sz="1875" b="1" i="0">
                <a:solidFill>
                  <a:srgbClr val="2563EB"/>
                </a:solidFill>
              </a:rPr>
              <a:t>Provided spec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9D68E2-C33C-4F2F-8657-906ACDD23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4400550"/>
            <a:ext cx="800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350" b="0" i="0">
                <a:solidFill>
                  <a:srgbClr val="596579"/>
                </a:solidFill>
              </a:defRPr>
            </a:pPr>
            <a:r>
              <a:rPr sz="1350" b="0" i="0">
                <a:solidFill>
                  <a:srgbClr val="596579"/>
                </a:solidFill>
              </a:rPr>
              <a:t>file or URL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B62D4C-4BAD-4BE0-8CEE-6FF8FEAC4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39550" y="3810000"/>
            <a:ext cx="5905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0" b="1" i="0">
                <a:solidFill>
                  <a:srgbClr val="596579"/>
                </a:solidFill>
              </a:defRPr>
            </a:pPr>
            <a:r>
              <a:rPr sz="2850" b="1" i="0">
                <a:solidFill>
                  <a:srgbClr val="596579"/>
                </a:solidFill>
              </a:rPr>
              <a:t>-&gt;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66A2E5-0D3B-4AAB-AFD1-0CD3FF0E8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0" y="3295650"/>
            <a:ext cx="2095500" cy="895350"/>
          </a:xfrm>
          <a:prstGeom xmlns:a="http://schemas.openxmlformats.org/drawingml/2006/main" prst="roundRect">
            <a:avLst>
              <a:gd name="adj" fmla="val 25532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83E58AF-CE2C-4C2C-8402-AA2EFF111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15850" y="3600450"/>
            <a:ext cx="1752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75" b="1" i="0">
                <a:solidFill>
                  <a:srgbClr val="2563EB"/>
                </a:solidFill>
              </a:defRPr>
            </a:pPr>
            <a:r>
              <a:rPr sz="1875" b="1" i="0">
                <a:solidFill>
                  <a:srgbClr val="2563EB"/>
                </a:solidFill>
              </a:rPr>
              <a:t>Test file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88C537-59C6-4FE3-A214-49C0607BF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0" y="4286250"/>
            <a:ext cx="11811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350" b="0" i="0">
                <a:solidFill>
                  <a:srgbClr val="596579"/>
                </a:solidFill>
              </a:defRPr>
            </a:pPr>
            <a:r>
              <a:rPr sz="1350" b="0" i="0">
                <a:solidFill>
                  <a:srgbClr val="596579"/>
                </a:solidFill>
              </a:rPr>
              <a:t>generated spec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44C206-BC54-43C2-953F-917248EBD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54200" y="3810000"/>
            <a:ext cx="5905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0" b="1" i="0">
                <a:solidFill>
                  <a:srgbClr val="596579"/>
                </a:solidFill>
              </a:defRPr>
            </a:pPr>
            <a:r>
              <a:rPr sz="2850" b="1" i="0">
                <a:solidFill>
                  <a:srgbClr val="596579"/>
                </a:solidFill>
              </a:rPr>
              <a:t>-&gt;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D08352-9C1E-4FEE-823A-E9B219E7F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59050" y="3295650"/>
            <a:ext cx="2095500" cy="895350"/>
          </a:xfrm>
          <a:prstGeom xmlns:a="http://schemas.openxmlformats.org/drawingml/2006/main" prst="roundRect">
            <a:avLst>
              <a:gd name="adj" fmla="val 25532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53755E9-1714-4164-9F56-4CB81B06E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3600450"/>
            <a:ext cx="1752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75" b="1" i="0">
                <a:solidFill>
                  <a:srgbClr val="2563EB"/>
                </a:solidFill>
              </a:defRPr>
            </a:pPr>
            <a:r>
              <a:rPr sz="1875" b="1" i="0">
                <a:solidFill>
                  <a:srgbClr val="2563EB"/>
                </a:solidFill>
              </a:rPr>
              <a:t>Target API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DE8D1C7-46AF-45D9-89D8-D1FDECEDE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4286250"/>
            <a:ext cx="1143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350" b="0" i="0">
                <a:solidFill>
                  <a:srgbClr val="596579"/>
                </a:solidFill>
              </a:defRPr>
            </a:pPr>
            <a:r>
              <a:rPr sz="1350" b="0" i="0">
                <a:solidFill>
                  <a:srgbClr val="596579"/>
                </a:solidFill>
              </a:rPr>
              <a:t>via BASE_URL</a:t>
            </a:r>
          </a:p>
        </p:txBody>
      </p:sp>
      <p:sp>
        <p:nvSpPr>
          <p:cNvPr id="30" name="code-block">
            <a:extLst xmlns:a="http://schemas.openxmlformats.org/drawingml/2006/main">
              <a:ext uri="{FF2B5EF4-FFF2-40B4-BE49-F238E27FC236}">
                <a16:creationId xmlns:a16="http://schemas.microsoft.com/office/drawing/2014/main" id="{814078E8-E712-4E9D-B8F7-970E89665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5003787"/>
            <a:ext cx="8048625" cy="996696"/>
          </a:xfrm>
          <a:prstGeom xmlns:a="http://schemas.openxmlformats.org/drawingml/2006/main" prst="roundRect">
            <a:avLst>
              <a:gd name="adj" fmla="val 19113"/>
            </a:avLst>
          </a:prstGeom>
          <a:solidFill xmlns:a="http://schemas.openxmlformats.org/drawingml/2006/main">
            <a:srgbClr val="111827"/>
          </a:solidFill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DAE396-1265-4693-8C3C-4148D7A1E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5238750"/>
            <a:ext cx="75247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500" b="0" i="0">
                <a:solidFill>
                  <a:srgbClr val="D1E7FF"/>
                </a:solidFill>
              </a:defRPr>
            </a:pPr>
            <a:r>
              <a:rPr sz="1500" b="0" i="0">
                <a:solidFill>
                  <a:srgbClr val="D1E7FF"/>
                </a:solidFill>
              </a:rPr>
              <a:t>npm run generate:from-spec -- --spec ./openapi.yaml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500" b="0" i="0">
                <a:solidFill>
                  <a:srgbClr val="D1E7FF"/>
                </a:solidFill>
              </a:defRPr>
            </a:pPr>
            <a:r>
              <a:rPr sz="1500" b="0" i="0">
                <a:solidFill>
                  <a:srgbClr val="D1E7FF"/>
                </a:solidFill>
              </a:rPr>
              <a:t>BASE_URL=https://api.example.com npm run test:generated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230952D-CFFB-4061-A7BA-5F8FFF17C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601200"/>
            <a:ext cx="166497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50" b="0" i="0">
                <a:solidFill>
                  <a:srgbClr val="8B7D68"/>
                </a:solidFill>
              </a:defRPr>
            </a:pPr>
            <a:r>
              <a:rPr sz="1050" b="0" i="0">
                <a:solidFill>
                  <a:srgbClr val="8B7D68"/>
                </a:solidFill>
              </a:rPr>
              <a:t>Spec-driven API test automation learning project</a:t>
            </a:r>
          </a:p>
        </p:txBody>
      </p:sp>
    </p:spTree>
    <p:extLst>
      <p:ext uri="{BB962C8B-B14F-4D97-AF65-F5344CB8AC3E}">
        <p14:creationId xmlns:p14="http://schemas.microsoft.com/office/powerpoint/2010/main" val="185114856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g">
            <a:extLst xmlns:a="http://schemas.openxmlformats.org/drawingml/2006/main">
              <a:ext uri="{FF2B5EF4-FFF2-40B4-BE49-F238E27FC236}">
                <a16:creationId xmlns:a16="http://schemas.microsoft.com/office/drawing/2014/main" id="{C133FCD5-212B-4040-9099-2926C5766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6C0E818-23D5-4259-9B9E-715F4496B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"/>
            <a:ext cx="523875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8000"/>
              </a:lnSpc>
              <a:buNone/>
              <a:defRPr sz="4200" b="1" i="0">
                <a:solidFill>
                  <a:srgbClr val="172033"/>
                </a:solidFill>
              </a:defRPr>
            </a:pPr>
            <a:r>
              <a:rPr sz="4200" b="1" i="0">
                <a:solidFill>
                  <a:srgbClr val="172033"/>
                </a:solidFill>
              </a:rPr>
              <a:t>Anatomy of the spec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0C23A51-0034-4597-A14D-4A573B9B4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43100"/>
            <a:ext cx="72961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75" b="0" i="0">
                <a:solidFill>
                  <a:srgbClr val="596579"/>
                </a:solidFill>
              </a:defRPr>
            </a:pPr>
            <a:r>
              <a:rPr sz="1875" b="0" i="0">
                <a:solidFill>
                  <a:srgbClr val="596579"/>
                </a:solidFill>
              </a:rPr>
              <a:t>The generator reads the fields that can become executable behavior.</a:t>
            </a:r>
          </a:p>
        </p:txBody>
      </p:sp>
      <p:sp>
        <p:nvSpPr>
          <p:cNvPr id="4" name="code-block">
            <a:extLst xmlns:a="http://schemas.openxmlformats.org/drawingml/2006/main">
              <a:ext uri="{FF2B5EF4-FFF2-40B4-BE49-F238E27FC236}">
                <a16:creationId xmlns:a16="http://schemas.microsoft.com/office/drawing/2014/main" id="{638C754E-B707-4E79-A61D-6562340C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21432"/>
            <a:ext cx="8471059" cy="6348298"/>
          </a:xfrm>
          <a:prstGeom xmlns:a="http://schemas.openxmlformats.org/drawingml/2006/main" prst="roundRect">
            <a:avLst>
              <a:gd name="adj" fmla="val 3001"/>
            </a:avLst>
          </a:prstGeom>
          <a:solidFill xmlns:a="http://schemas.openxmlformats.org/drawingml/2006/main">
            <a:srgbClr val="111827"/>
          </a:solidFill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753E14-71D7-45AD-A57E-57F2CD77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143250"/>
            <a:ext cx="7943850" cy="432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500" b="0" i="0">
                <a:solidFill>
                  <a:srgbClr val="D1E7FF"/>
                </a:solidFill>
              </a:defRPr>
            </a:pPr>
            <a:r>
              <a:rPr sz="1500" b="0" i="0">
                <a:solidFill>
                  <a:srgbClr val="D1E7FF"/>
                </a:solidFill>
              </a:rPr>
              <a:t>paths: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500" b="0" i="0">
                <a:solidFill>
                  <a:srgbClr val="D1E7FF"/>
                </a:solidFill>
              </a:defRPr>
            </a:pPr>
            <a:r>
              <a:rPr sz="1500" b="0" i="0">
                <a:solidFill>
                  <a:srgbClr val="D1E7FF"/>
                </a:solidFill>
              </a:rPr>
              <a:t>  /v2: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500" b="0" i="0">
                <a:solidFill>
                  <a:srgbClr val="D1E7FF"/>
                </a:solidFill>
              </a:defRPr>
            </a:pPr>
            <a:r>
              <a:rPr sz="1500" b="0" i="0">
                <a:solidFill>
                  <a:srgbClr val="D1E7FF"/>
                </a:solidFill>
              </a:rPr>
              <a:t>    get: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500" b="0" i="0">
                <a:solidFill>
                  <a:srgbClr val="D1E7FF"/>
                </a:solidFill>
              </a:defRPr>
            </a:pPr>
            <a:r>
              <a:rPr sz="1500" b="0" i="0">
                <a:solidFill>
                  <a:srgbClr val="D1E7FF"/>
                </a:solidFill>
              </a:rPr>
              <a:t>      operationId: getVersionDetailsv2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500" b="0" i="0">
                <a:solidFill>
                  <a:srgbClr val="D1E7FF"/>
                </a:solidFill>
              </a:defRPr>
            </a:pPr>
            <a:r>
              <a:rPr sz="1500" b="0" i="0">
                <a:solidFill>
                  <a:srgbClr val="D1E7FF"/>
                </a:solidFill>
              </a:rPr>
              <a:t>      parameters: [...]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500" b="0" i="0">
                <a:solidFill>
                  <a:srgbClr val="D1E7FF"/>
                </a:solidFill>
              </a:defRPr>
            </a:pPr>
            <a:r>
              <a:rPr sz="1500" b="0" i="0">
                <a:solidFill>
                  <a:srgbClr val="D1E7FF"/>
                </a:solidFill>
              </a:rPr>
              <a:t>      requestBody: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500" b="0" i="0">
                <a:solidFill>
                  <a:srgbClr val="D1E7FF"/>
                </a:solidFill>
              </a:defRPr>
            </a:pPr>
            <a:r>
              <a:rPr sz="1500" b="0" i="0">
                <a:solidFill>
                  <a:srgbClr val="D1E7FF"/>
                </a:solidFill>
              </a:rPr>
              <a:t>        content: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500" b="0" i="0">
                <a:solidFill>
                  <a:srgbClr val="D1E7FF"/>
                </a:solidFill>
              </a:defRPr>
            </a:pPr>
            <a:r>
              <a:rPr sz="1500" b="0" i="0">
                <a:solidFill>
                  <a:srgbClr val="D1E7FF"/>
                </a:solidFill>
              </a:rPr>
              <a:t>          application/json: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500" b="0" i="0">
                <a:solidFill>
                  <a:srgbClr val="D1E7FF"/>
                </a:solidFill>
              </a:defRPr>
            </a:pPr>
            <a:r>
              <a:rPr sz="1500" b="0" i="0">
                <a:solidFill>
                  <a:srgbClr val="D1E7FF"/>
                </a:solidFill>
              </a:rPr>
              <a:t>            example: {...}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500" b="0" i="0">
                <a:solidFill>
                  <a:srgbClr val="D1E7FF"/>
                </a:solidFill>
              </a:defRPr>
            </a:pPr>
            <a:r>
              <a:rPr sz="1500" b="0" i="0">
                <a:solidFill>
                  <a:srgbClr val="D1E7FF"/>
                </a:solidFill>
              </a:rPr>
              <a:t>      responses: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500" b="0" i="0">
                <a:solidFill>
                  <a:srgbClr val="D1E7FF"/>
                </a:solidFill>
              </a:defRPr>
            </a:pPr>
            <a:r>
              <a:rPr sz="1500" b="0" i="0">
                <a:solidFill>
                  <a:srgbClr val="D1E7FF"/>
                </a:solidFill>
              </a:rPr>
              <a:t>        '200':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500" b="0" i="0">
                <a:solidFill>
                  <a:srgbClr val="D1E7FF"/>
                </a:solidFill>
              </a:defRPr>
            </a:pPr>
            <a:r>
              <a:rPr sz="1500" b="0" i="0">
                <a:solidFill>
                  <a:srgbClr val="D1E7FF"/>
                </a:solidFill>
              </a:rPr>
              <a:t>          content: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500" b="0" i="0">
                <a:solidFill>
                  <a:srgbClr val="D1E7FF"/>
                </a:solidFill>
              </a:defRPr>
            </a:pPr>
            <a:r>
              <a:rPr sz="1500" b="0" i="0">
                <a:solidFill>
                  <a:srgbClr val="D1E7FF"/>
                </a:solidFill>
              </a:rPr>
              <a:t>            application/json: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500" b="0" i="0">
                <a:solidFill>
                  <a:srgbClr val="D1E7FF"/>
                </a:solidFill>
              </a:defRPr>
            </a:pPr>
            <a:r>
              <a:rPr sz="1500" b="0" i="0">
                <a:solidFill>
                  <a:srgbClr val="D1E7FF"/>
                </a:solidFill>
              </a:rPr>
              <a:t>              examples: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500" b="0" i="0">
                <a:solidFill>
                  <a:srgbClr val="D1E7FF"/>
                </a:solidFill>
              </a:defRPr>
            </a:pPr>
            <a:r>
              <a:rPr sz="1500" b="0" i="0">
                <a:solidFill>
                  <a:srgbClr val="D1E7FF"/>
                </a:solidFill>
              </a:rPr>
              <a:t>                foo: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500" b="0" i="0">
                <a:solidFill>
                  <a:srgbClr val="D1E7FF"/>
                </a:solidFill>
              </a:defRPr>
            </a:pPr>
            <a:r>
              <a:rPr sz="1500" b="0" i="0">
                <a:solidFill>
                  <a:srgbClr val="D1E7FF"/>
                </a:solidFill>
              </a:rPr>
              <a:t>                  value: {...}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9b816d93804aef"/>
          <a:stretch xmlns:a="http://schemas.openxmlformats.org/drawingml/2006/main"/>
        </p:blipFill>
        <p:spPr>
          <a:xfrm xmlns:a="http://schemas.openxmlformats.org/drawingml/2006/main">
            <a:off x="9829324" y="3352381"/>
            <a:ext cx="1760220" cy="12573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1F8D2B-3008-40C4-ABC4-04F98D6A4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010150"/>
            <a:ext cx="8001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400" b="1" i="0">
                <a:solidFill>
                  <a:srgbClr val="65B32E"/>
                </a:solidFill>
              </a:defRPr>
            </a:pPr>
            <a:r>
              <a:rPr sz="5400" b="1" i="0">
                <a:solidFill>
                  <a:srgbClr val="65B32E"/>
                </a:solidFill>
              </a:rPr>
              <a:t>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14EC7F-9573-4D3A-98F3-7C65B4E39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914900"/>
            <a:ext cx="6610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0" b="1" i="0">
                <a:solidFill>
                  <a:srgbClr val="172033"/>
                </a:solidFill>
              </a:defRPr>
            </a:pPr>
            <a:r>
              <a:rPr sz="2550" b="1" i="0">
                <a:solidFill>
                  <a:srgbClr val="172033"/>
                </a:solidFill>
              </a:rPr>
              <a:t>`paths` + method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9A54DE-1332-4B61-B607-58EC783D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5372100"/>
            <a:ext cx="3333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6000"/>
              </a:lnSpc>
              <a:buNone/>
              <a:defRPr sz="1800" b="0" i="0">
                <a:solidFill>
                  <a:srgbClr val="596579"/>
                </a:solidFill>
              </a:defRPr>
            </a:pPr>
            <a:r>
              <a:rPr sz="1800" b="0" i="0">
                <a:solidFill>
                  <a:srgbClr val="596579"/>
                </a:solidFill>
              </a:rPr>
              <a:t>Produces a candidate operation.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DE0AF4-5F12-46A0-9D2D-A81F53C9F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19850"/>
            <a:ext cx="8001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400" b="1" i="0">
                <a:solidFill>
                  <a:srgbClr val="2563EB"/>
                </a:solidFill>
              </a:defRPr>
            </a:pPr>
            <a:r>
              <a:rPr sz="5400" b="1" i="0">
                <a:solidFill>
                  <a:srgbClr val="2563EB"/>
                </a:solidFill>
              </a:rPr>
              <a:t>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115932-763C-44FF-A1D2-FDA6BAB17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57950"/>
            <a:ext cx="6610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0" b="1" i="0">
                <a:solidFill>
                  <a:srgbClr val="172033"/>
                </a:solidFill>
              </a:defRPr>
            </a:pPr>
            <a:r>
              <a:rPr sz="2550" b="1" i="0">
                <a:solidFill>
                  <a:srgbClr val="172033"/>
                </a:solidFill>
              </a:rPr>
              <a:t>`parameters` + request examples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F31BD7-6C6C-44FE-B89D-CE0A38846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934200"/>
            <a:ext cx="3048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6000"/>
              </a:lnSpc>
              <a:buNone/>
              <a:defRPr sz="1800" b="0" i="0">
                <a:solidFill>
                  <a:srgbClr val="596579"/>
                </a:solidFill>
              </a:defRPr>
            </a:pPr>
            <a:r>
              <a:rPr sz="1800" b="0" i="0">
                <a:solidFill>
                  <a:srgbClr val="596579"/>
                </a:solidFill>
              </a:rPr>
              <a:t>Builds URL and request body.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87921F-4F89-4DAE-BCC6-63D11BBA4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7829550"/>
            <a:ext cx="8001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400" b="1" i="0">
                <a:solidFill>
                  <a:srgbClr val="F97316"/>
                </a:solidFill>
              </a:defRPr>
            </a:pPr>
            <a:r>
              <a:rPr sz="5400" b="1" i="0">
                <a:solidFill>
                  <a:srgbClr val="F97316"/>
                </a:solidFill>
              </a:rPr>
              <a:t>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30DC98-54D6-4288-9E29-DDEDD7B9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7867650"/>
            <a:ext cx="6610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0" b="1" i="0">
                <a:solidFill>
                  <a:srgbClr val="172033"/>
                </a:solidFill>
              </a:defRPr>
            </a:pPr>
            <a:r>
              <a:rPr sz="2550" b="1" i="0">
                <a:solidFill>
                  <a:srgbClr val="172033"/>
                </a:solidFill>
              </a:rPr>
              <a:t>`responses.2xx.examples`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A932ED-EFCD-4980-AD7F-79EAD5962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8343900"/>
            <a:ext cx="50292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6000"/>
              </a:lnSpc>
              <a:buNone/>
              <a:defRPr sz="1800" b="0" i="0">
                <a:solidFill>
                  <a:srgbClr val="596579"/>
                </a:solidFill>
              </a:defRPr>
            </a:pPr>
            <a:r>
              <a:rPr sz="1800" b="0" i="0">
                <a:solidFill>
                  <a:srgbClr val="596579"/>
                </a:solidFill>
              </a:rPr>
              <a:t>Builds status, content-type, and body assertions.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47F6B5-DBB7-4DC8-B722-756262DF0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601200"/>
            <a:ext cx="166497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50" b="0" i="0">
                <a:solidFill>
                  <a:srgbClr val="8B7D68"/>
                </a:solidFill>
              </a:defRPr>
            </a:pPr>
            <a:r>
              <a:rPr sz="1050" b="0" i="0">
                <a:solidFill>
                  <a:srgbClr val="8B7D68"/>
                </a:solidFill>
              </a:rPr>
              <a:t>Teaching point: examples create stronger generated tests than schema-only responses.</a:t>
            </a:r>
          </a:p>
        </p:txBody>
      </p:sp>
    </p:spTree>
    <p:extLst>
      <p:ext uri="{BB962C8B-B14F-4D97-AF65-F5344CB8AC3E}">
        <p14:creationId xmlns:p14="http://schemas.microsoft.com/office/powerpoint/2010/main" val="22109039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g">
            <a:extLst xmlns:a="http://schemas.openxmlformats.org/drawingml/2006/main">
              <a:ext uri="{FF2B5EF4-FFF2-40B4-BE49-F238E27FC236}">
                <a16:creationId xmlns:a16="http://schemas.microsoft.com/office/drawing/2014/main" id="{D2A88A68-B487-4D3D-A88D-2B7B1060A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3749D78-9234-47E5-BF08-35783711A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"/>
            <a:ext cx="64198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8000"/>
              </a:lnSpc>
              <a:buNone/>
              <a:defRPr sz="4200" b="1" i="0">
                <a:solidFill>
                  <a:srgbClr val="172033"/>
                </a:solidFill>
              </a:defRPr>
            </a:pPr>
            <a:r>
              <a:rPr sz="4200" b="1" i="0">
                <a:solidFill>
                  <a:srgbClr val="172033"/>
                </a:solidFill>
              </a:rPr>
              <a:t>Step 1: Load and validate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3613CC4-579C-48AD-A275-A89B4721A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314450"/>
            <a:ext cx="79438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75" b="0" i="0">
                <a:solidFill>
                  <a:srgbClr val="596579"/>
                </a:solidFill>
              </a:defRPr>
            </a:pPr>
            <a:r>
              <a:rPr sz="1875" b="0" i="0">
                <a:solidFill>
                  <a:srgbClr val="596579"/>
                </a:solidFill>
              </a:rPr>
              <a:t>`loadSpec()` accepts a local file or URL, parses it, then guards the contract.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3168A2-F778-47C7-B998-3D435C2F8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90950"/>
            <a:ext cx="2190750" cy="895350"/>
          </a:xfrm>
          <a:prstGeom xmlns:a="http://schemas.openxmlformats.org/drawingml/2006/main" prst="roundRect">
            <a:avLst>
              <a:gd name="adj" fmla="val 25532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477AA2-0794-4EA1-A203-A2C703F76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095750"/>
            <a:ext cx="18669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75" b="1" i="0">
                <a:solidFill>
                  <a:srgbClr val="65B32E"/>
                </a:solidFill>
              </a:defRPr>
            </a:pPr>
            <a:r>
              <a:rPr sz="1875" b="1" i="0">
                <a:solidFill>
                  <a:srgbClr val="65B32E"/>
                </a:solidFill>
              </a:rPr>
              <a:t>file path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EA9AA0-4245-417A-97ED-4BB6CF00E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781550"/>
            <a:ext cx="1143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350" b="0" i="0">
                <a:solidFill>
                  <a:srgbClr val="596579"/>
                </a:solidFill>
              </a:defRPr>
            </a:pPr>
            <a:r>
              <a:rPr sz="1350" b="0" i="0">
                <a:solidFill>
                  <a:srgbClr val="596579"/>
                </a:solidFill>
              </a:rPr>
              <a:t>./openapi.yaml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0B639D-0DFD-4952-9079-6AE02B64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343400"/>
            <a:ext cx="5524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50" b="1" i="0">
                <a:solidFill>
                  <a:srgbClr val="596579"/>
                </a:solidFill>
              </a:defRPr>
            </a:pPr>
            <a:r>
              <a:rPr sz="2250" b="1" i="0">
                <a:solidFill>
                  <a:srgbClr val="596579"/>
                </a:solidFill>
              </a:rPr>
              <a:t>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4A316F-0C61-433A-831A-39D3A20A9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790950"/>
            <a:ext cx="2571750" cy="895350"/>
          </a:xfrm>
          <a:prstGeom xmlns:a="http://schemas.openxmlformats.org/drawingml/2006/main" prst="roundRect">
            <a:avLst>
              <a:gd name="adj" fmla="val 25532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8C3BD5-FE80-48E1-B086-3E3AB9A2C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095750"/>
            <a:ext cx="22479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75" b="1" i="0">
                <a:solidFill>
                  <a:srgbClr val="65B32E"/>
                </a:solidFill>
              </a:defRPr>
            </a:pPr>
            <a:r>
              <a:rPr sz="1875" b="1" i="0">
                <a:solidFill>
                  <a:srgbClr val="65B32E"/>
                </a:solidFill>
              </a:rPr>
              <a:t>HTTP URL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D8CAFB-B90A-4473-9449-A95F410B0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781550"/>
            <a:ext cx="17907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350" b="0" i="0">
                <a:solidFill>
                  <a:srgbClr val="596579"/>
                </a:solidFill>
              </a:defRPr>
            </a:pPr>
            <a:r>
              <a:rPr sz="1350" b="0" i="0">
                <a:solidFill>
                  <a:srgbClr val="596579"/>
                </a:solidFill>
              </a:rPr>
              <a:t>https://.../openapi.yaml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E0B034-9E14-4A05-8685-9FDB471A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305300"/>
            <a:ext cx="5905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0" b="1" i="0">
                <a:solidFill>
                  <a:srgbClr val="2F7D32"/>
                </a:solidFill>
              </a:defRPr>
            </a:pPr>
            <a:r>
              <a:rPr sz="2850" b="1" i="0">
                <a:solidFill>
                  <a:srgbClr val="2F7D32"/>
                </a:solidFill>
              </a:rPr>
              <a:t>-&gt;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70C718-5F17-4BEA-B5EE-789AD230F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905250"/>
            <a:ext cx="2095500" cy="895350"/>
          </a:xfrm>
          <a:prstGeom xmlns:a="http://schemas.openxmlformats.org/drawingml/2006/main" prst="roundRect">
            <a:avLst>
              <a:gd name="adj" fmla="val 25532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6C1C60-F943-4F3B-90FE-7060D7074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210050"/>
            <a:ext cx="1752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75" b="1" i="0">
                <a:solidFill>
                  <a:srgbClr val="2563EB"/>
                </a:solidFill>
              </a:defRPr>
            </a:pPr>
            <a:r>
              <a:rPr sz="1875" b="1" i="0">
                <a:solidFill>
                  <a:srgbClr val="2563EB"/>
                </a:solidFill>
              </a:rPr>
              <a:t>parse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3FAF4D-4183-4E89-9A97-14D76CB80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895850"/>
            <a:ext cx="114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350" b="0" i="0">
                <a:solidFill>
                  <a:srgbClr val="596579"/>
                </a:solidFill>
              </a:defRPr>
            </a:pPr>
            <a:r>
              <a:rPr sz="1350" b="0" i="0">
                <a:solidFill>
                  <a:srgbClr val="596579"/>
                </a:solidFill>
              </a:rPr>
              <a:t>YAML or JSON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81261A-1F87-42B7-93EA-878183E19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4305300"/>
            <a:ext cx="5905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0" b="1" i="0">
                <a:solidFill>
                  <a:srgbClr val="2F7D32"/>
                </a:solidFill>
              </a:defRPr>
            </a:pPr>
            <a:r>
              <a:rPr sz="2850" b="1" i="0">
                <a:solidFill>
                  <a:srgbClr val="2F7D32"/>
                </a:solidFill>
              </a:rPr>
              <a:t>-&gt;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807D6A-8B05-450C-84D6-F3CD3A017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3790950"/>
            <a:ext cx="2095500" cy="895350"/>
          </a:xfrm>
          <a:prstGeom xmlns:a="http://schemas.openxmlformats.org/drawingml/2006/main" prst="roundRect">
            <a:avLst>
              <a:gd name="adj" fmla="val 25532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ADC3CC-3695-43DF-B4FB-7E538F97A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4095750"/>
            <a:ext cx="1752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75" b="1" i="0">
                <a:solidFill>
                  <a:srgbClr val="F97316"/>
                </a:solidFill>
              </a:defRPr>
            </a:pPr>
            <a:r>
              <a:rPr sz="1875" b="1" i="0">
                <a:solidFill>
                  <a:srgbClr val="F97316"/>
                </a:solidFill>
              </a:rPr>
              <a:t>guard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E16A4-59DA-43FC-BCAB-E1CF644CA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4781550"/>
            <a:ext cx="1104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350" b="0" i="0">
                <a:solidFill>
                  <a:srgbClr val="596579"/>
                </a:solidFill>
              </a:defRPr>
            </a:pPr>
            <a:r>
              <a:rPr sz="1350" b="0" i="0">
                <a:solidFill>
                  <a:srgbClr val="596579"/>
                </a:solidFill>
              </a:rPr>
              <a:t>OpenAPI 3.0.x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E2B2A3-C81B-4FE2-A8B9-C2D3E7C9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58850" y="4305300"/>
            <a:ext cx="5905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0" b="1" i="0">
                <a:solidFill>
                  <a:srgbClr val="2F7D32"/>
                </a:solidFill>
              </a:defRPr>
            </a:pPr>
            <a:r>
              <a:rPr sz="2850" b="1" i="0">
                <a:solidFill>
                  <a:srgbClr val="2F7D32"/>
                </a:solidFill>
              </a:rPr>
              <a:t>-&gt;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FA5A67-A36E-4AA9-A3A8-C111B5642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20850" y="3905250"/>
            <a:ext cx="2095500" cy="895350"/>
          </a:xfrm>
          <a:prstGeom xmlns:a="http://schemas.openxmlformats.org/drawingml/2006/main" prst="roundRect">
            <a:avLst>
              <a:gd name="adj" fmla="val 25532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128320-1DAC-48EE-BBFA-A60DB9D06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4210050"/>
            <a:ext cx="1752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75" b="1" i="0">
                <a:solidFill>
                  <a:srgbClr val="2F7D32"/>
                </a:solidFill>
              </a:defRPr>
            </a:pPr>
            <a:r>
              <a:rPr sz="1875" b="1" i="0">
                <a:solidFill>
                  <a:srgbClr val="2F7D32"/>
                </a:solidFill>
              </a:rPr>
              <a:t>ready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AAD6C1-C5D8-4D0B-BA52-704C57D0F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0900" y="4895850"/>
            <a:ext cx="1295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350" b="0" i="0">
                <a:solidFill>
                  <a:srgbClr val="596579"/>
                </a:solidFill>
              </a:defRPr>
            </a:pPr>
            <a:r>
              <a:rPr sz="1350" b="0" i="0">
                <a:solidFill>
                  <a:srgbClr val="596579"/>
                </a:solidFill>
              </a:rPr>
              <a:t>non-empty paths</a:t>
            </a:r>
          </a:p>
        </p:txBody>
      </p:sp>
      <p:sp>
        <p:nvSpPr>
          <p:cNvPr id="23" name="code-block">
            <a:extLst xmlns:a="http://schemas.openxmlformats.org/drawingml/2006/main">
              <a:ext uri="{FF2B5EF4-FFF2-40B4-BE49-F238E27FC236}">
                <a16:creationId xmlns:a16="http://schemas.microsoft.com/office/drawing/2014/main" id="{921581FA-75D8-49AB-8027-1EF5EE973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396353"/>
            <a:ext cx="16649700" cy="1873377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111827"/>
          </a:solidFill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891188-4636-48E5-9AE5-4292F4543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7620000"/>
            <a:ext cx="161163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575" b="0" i="0">
                <a:solidFill>
                  <a:srgbClr val="D1E7FF"/>
                </a:solidFill>
              </a:defRPr>
            </a:pPr>
            <a:r>
              <a:rPr sz="1575" b="0" i="0">
                <a:solidFill>
                  <a:srgbClr val="D1E7FF"/>
                </a:solidFill>
              </a:rPr>
              <a:t>const specInput = values.spec ?? process.env.OPENAPI_SPEC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575" b="0" i="0">
                <a:solidFill>
                  <a:srgbClr val="D1E7FF"/>
                </a:solidFill>
              </a:defRPr>
            </a:pPr>
            <a:r>
              <a:rPr sz="1575" b="0" i="0">
                <a:solidFill>
                  <a:srgbClr val="D1E7FF"/>
                </a:solidFill>
              </a:rPr>
              <a:t>const spec = await loadSpec(specInput)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575" b="0" i="0">
                <a:solidFill>
                  <a:srgbClr val="D1E7FF"/>
                </a:solidFill>
              </a:defRPr>
            </a:pPr>
            <a:r>
              <a:rPr sz="1575" b="0" i="0">
                <a:solidFill>
                  <a:srgbClr val="D1E7FF"/>
                </a:solidFill>
              </a:rPr>
              <a:t>if (!document.openapi?.startsWith('3.0.')) throw new Error(...)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575" b="0" i="0">
                <a:solidFill>
                  <a:srgbClr val="D1E7FF"/>
                </a:solidFill>
              </a:defRPr>
            </a:pPr>
            <a:r>
              <a:rPr sz="1575" b="0" i="0">
                <a:solidFill>
                  <a:srgbClr val="D1E7FF"/>
                </a:solidFill>
              </a:rPr>
              <a:t>if (!document.paths || Object.keys(document.paths).length === 0) throw new Error(...)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572F8D-CB02-41A0-A97B-5B8BE4B01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601200"/>
            <a:ext cx="166497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50" b="0" i="0">
                <a:solidFill>
                  <a:srgbClr val="8B7D68"/>
                </a:solidFill>
              </a:defRPr>
            </a:pPr>
            <a:r>
              <a:rPr sz="1050" b="0" i="0">
                <a:solidFill>
                  <a:srgbClr val="8B7D68"/>
                </a:solidFill>
              </a:rPr>
              <a:t>Fail early when the source contract cannot produce reliable tests.</a:t>
            </a:r>
          </a:p>
        </p:txBody>
      </p:sp>
    </p:spTree>
    <p:extLst>
      <p:ext uri="{BB962C8B-B14F-4D97-AF65-F5344CB8AC3E}">
        <p14:creationId xmlns:p14="http://schemas.microsoft.com/office/powerpoint/2010/main" val="146489047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g">
            <a:extLst xmlns:a="http://schemas.openxmlformats.org/drawingml/2006/main">
              <a:ext uri="{FF2B5EF4-FFF2-40B4-BE49-F238E27FC236}">
                <a16:creationId xmlns:a16="http://schemas.microsoft.com/office/drawing/2014/main" id="{4F708DDD-4CFD-4E9E-95BA-3CCE0E8F7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BE1A8AD-7399-4D1B-B392-79ACACB4B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"/>
            <a:ext cx="702945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8000"/>
              </a:lnSpc>
              <a:buNone/>
              <a:defRPr sz="4200" b="1" i="0">
                <a:solidFill>
                  <a:srgbClr val="172033"/>
                </a:solidFill>
              </a:defRPr>
            </a:pPr>
            <a:r>
              <a:rPr sz="4200" b="1" i="0">
                <a:solidFill>
                  <a:srgbClr val="172033"/>
                </a:solidFill>
              </a:rPr>
              <a:t>Step 2: Discover operations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47F498F-134F-4467-B8A5-24D18C016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43100"/>
            <a:ext cx="68008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75" b="0" i="0">
                <a:solidFill>
                  <a:srgbClr val="596579"/>
                </a:solidFill>
              </a:defRPr>
            </a:pPr>
            <a:r>
              <a:rPr sz="1875" b="0" i="0">
                <a:solidFill>
                  <a:srgbClr val="596579"/>
                </a:solidFill>
              </a:rPr>
              <a:t>`listOperations()` walks every path and supported HTTP method.</a:t>
            </a:r>
          </a:p>
        </p:txBody>
      </p:sp>
      <p:sp>
        <p:nvSpPr>
          <p:cNvPr id="4" name="code-block">
            <a:extLst xmlns:a="http://schemas.openxmlformats.org/drawingml/2006/main">
              <a:ext uri="{FF2B5EF4-FFF2-40B4-BE49-F238E27FC236}">
                <a16:creationId xmlns:a16="http://schemas.microsoft.com/office/drawing/2014/main" id="{95E2BF01-BC46-44D5-A617-EF125045D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92819"/>
            <a:ext cx="7286625" cy="6676911"/>
          </a:xfrm>
          <a:prstGeom xmlns:a="http://schemas.openxmlformats.org/drawingml/2006/main" prst="roundRect">
            <a:avLst>
              <a:gd name="adj" fmla="val 2853"/>
            </a:avLst>
          </a:prstGeom>
          <a:solidFill xmlns:a="http://schemas.openxmlformats.org/drawingml/2006/main">
            <a:srgbClr val="111827"/>
          </a:solidFill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1F66BC-D624-4BC4-8CCC-0B89ADA97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819400"/>
            <a:ext cx="6762750" cy="3105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725" b="0" i="0">
                <a:solidFill>
                  <a:srgbClr val="D1E7FF"/>
                </a:solidFill>
              </a:defRPr>
            </a:pPr>
            <a:r>
              <a:rPr sz="1725" b="0" i="0">
                <a:solidFill>
                  <a:srgbClr val="D1E7FF"/>
                </a:solidFill>
              </a:rPr>
              <a:t>HTTP_METHODS = [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725" b="0" i="0">
                <a:solidFill>
                  <a:srgbClr val="D1E7FF"/>
                </a:solidFill>
              </a:defRPr>
            </a:pPr>
            <a:r>
              <a:rPr sz="1725" b="0" i="0">
                <a:solidFill>
                  <a:srgbClr val="D1E7FF"/>
                </a:solidFill>
              </a:rPr>
              <a:t>  'get', 'post', 'put',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725" b="0" i="0">
                <a:solidFill>
                  <a:srgbClr val="D1E7FF"/>
                </a:solidFill>
              </a:defRPr>
            </a:pPr>
            <a:r>
              <a:rPr sz="1725" b="0" i="0">
                <a:solidFill>
                  <a:srgbClr val="D1E7FF"/>
                </a:solidFill>
              </a:rPr>
              <a:t>  'patch', 'delete',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725" b="0" i="0">
                <a:solidFill>
                  <a:srgbClr val="D1E7FF"/>
                </a:solidFill>
              </a:defRPr>
            </a:pPr>
            <a:r>
              <a:rPr sz="1725" b="0" i="0">
                <a:solidFill>
                  <a:srgbClr val="D1E7FF"/>
                </a:solidFill>
              </a:rPr>
              <a:t>  'head', 'options'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725" b="0" i="0">
                <a:solidFill>
                  <a:srgbClr val="D1E7FF"/>
                </a:solidFill>
              </a:defRPr>
            </a:pPr>
            <a:r>
              <a:rPr sz="1725" b="0" i="0">
                <a:solidFill>
                  <a:srgbClr val="D1E7FF"/>
                </a:solidFill>
              </a:rPr>
              <a:t>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725" b="0" i="0">
                <a:solidFill>
                  <a:srgbClr val="D1E7FF"/>
                </a:solidFill>
              </a:defRPr>
            </a:pPr>
            <a:r>
              <a:rPr sz="1725" b="0" i="0">
                <a:solidFill>
                  <a:srgbClr val="D1E7FF"/>
                </a:solidFill>
              </a:rPr>
              <a:t>for each path: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725" b="0" i="0">
                <a:solidFill>
                  <a:srgbClr val="D1E7FF"/>
                </a:solidFill>
              </a:defRPr>
            </a:pPr>
            <a:r>
              <a:rPr sz="1725" b="0" i="0">
                <a:solidFill>
                  <a:srgbClr val="D1E7FF"/>
                </a:solidFill>
              </a:rPr>
              <a:t>  for each method: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725" b="0" i="0">
                <a:solidFill>
                  <a:srgbClr val="D1E7FF"/>
                </a:solidFill>
              </a:defRPr>
            </a:pPr>
            <a:r>
              <a:rPr sz="1725" b="0" i="0">
                <a:solidFill>
                  <a:srgbClr val="D1E7FF"/>
                </a:solidFill>
              </a:rPr>
              <a:t>    if operation exists: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725" b="0" i="0">
                <a:solidFill>
                  <a:srgbClr val="D1E7FF"/>
                </a:solidFill>
              </a:defRPr>
            </a:pPr>
            <a:r>
              <a:rPr sz="1725" b="0" i="0">
                <a:solidFill>
                  <a:srgbClr val="D1E7FF"/>
                </a:solidFill>
              </a:rPr>
              <a:t>      add candidate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628F55-DEA5-4672-8C5D-33C9D828B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419600"/>
            <a:ext cx="89154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0" b="1" i="0">
                <a:solidFill>
                  <a:srgbClr val="172033"/>
                </a:solidFill>
              </a:defRPr>
            </a:pPr>
            <a:r>
              <a:rPr sz="2850" b="1" i="0">
                <a:solidFill>
                  <a:srgbClr val="172033"/>
                </a:solidFill>
              </a:rPr>
              <a:t>Candidate test names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858282-167A-4A5D-9F5B-724AF62D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5091170"/>
            <a:ext cx="8905875" cy="1520190"/>
          </a:xfrm>
          <a:prstGeom xmlns:a="http://schemas.openxmlformats.org/drawingml/2006/main" prst="roundRect">
            <a:avLst>
              <a:gd name="adj" fmla="val 15038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325F5B-BA8D-42DD-A5DE-860CC690A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353050"/>
            <a:ext cx="82677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0" b="1" i="0">
                <a:solidFill>
                  <a:srgbClr val="2F7D32"/>
                </a:solidFill>
              </a:defRPr>
            </a:pPr>
            <a:r>
              <a:rPr sz="2550" b="1" i="0">
                <a:solidFill>
                  <a:srgbClr val="2F7D32"/>
                </a:solidFill>
              </a:rPr>
              <a:t>GET / listVersionsv2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06F078-B5A5-47CC-8F2E-15FAF9863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962650"/>
            <a:ext cx="82677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0" b="1" i="0">
                <a:solidFill>
                  <a:srgbClr val="2563EB"/>
                </a:solidFill>
              </a:defRPr>
            </a:pPr>
            <a:r>
              <a:rPr sz="2550" b="1" i="0">
                <a:solidFill>
                  <a:srgbClr val="2563EB"/>
                </a:solidFill>
              </a:rPr>
              <a:t>GET /v2 getVersionDetailsv2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482EA8-9BFF-4D33-85A5-192109B00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838950"/>
            <a:ext cx="66865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50" b="0" i="0">
                <a:solidFill>
                  <a:srgbClr val="596579"/>
                </a:solidFill>
              </a:defRPr>
            </a:pPr>
            <a:r>
              <a:rPr sz="1950" b="0" i="0">
                <a:solidFill>
                  <a:srgbClr val="596579"/>
                </a:solidFill>
              </a:rPr>
              <a:t>Each operation becomes a candidate. It only emits a test if a 2xx response exists.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F2A26C-FA87-41C6-85DC-6D96B449C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601200"/>
            <a:ext cx="166497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50" b="0" i="0">
                <a:solidFill>
                  <a:srgbClr val="8B7D68"/>
                </a:solidFill>
              </a:defRPr>
            </a:pPr>
            <a:r>
              <a:rPr sz="1050" b="0" i="0">
                <a:solidFill>
                  <a:srgbClr val="8B7D68"/>
                </a:solidFill>
              </a:rPr>
              <a:t>Spec-driven API test automation learning project</a:t>
            </a:r>
          </a:p>
        </p:txBody>
      </p:sp>
    </p:spTree>
    <p:extLst>
      <p:ext uri="{BB962C8B-B14F-4D97-AF65-F5344CB8AC3E}">
        <p14:creationId xmlns:p14="http://schemas.microsoft.com/office/powerpoint/2010/main" val="156527412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g">
            <a:extLst xmlns:a="http://schemas.openxmlformats.org/drawingml/2006/main">
              <a:ext uri="{FF2B5EF4-FFF2-40B4-BE49-F238E27FC236}">
                <a16:creationId xmlns:a16="http://schemas.microsoft.com/office/drawing/2014/main" id="{64C2475E-1975-46FE-B78E-37D047B89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C6C5328-B19F-458E-826C-EC71B319E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"/>
            <a:ext cx="622935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8000"/>
              </a:lnSpc>
              <a:buNone/>
              <a:defRPr sz="4200" b="1" i="0">
                <a:solidFill>
                  <a:srgbClr val="172033"/>
                </a:solidFill>
              </a:defRPr>
            </a:pPr>
            <a:r>
              <a:rPr sz="4200" b="1" i="0">
                <a:solidFill>
                  <a:srgbClr val="172033"/>
                </a:solidFill>
              </a:rPr>
              <a:t>Step 3: Build the request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05AD5D9C-F004-4297-85AA-9D0D01079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43100"/>
            <a:ext cx="76581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75" b="0" i="0">
                <a:solidFill>
                  <a:srgbClr val="596579"/>
                </a:solidFill>
              </a:defRPr>
            </a:pPr>
            <a:r>
              <a:rPr sz="1875" b="0" i="0">
                <a:solidFill>
                  <a:srgbClr val="596579"/>
                </a:solidFill>
              </a:rPr>
              <a:t>OpenAPI examples and defaults become a concrete Playwright request.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5AA33C-BDAB-4B2D-BD54-093F0653B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67200"/>
            <a:ext cx="8001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400" b="1" i="0">
                <a:solidFill>
                  <a:srgbClr val="65B32E"/>
                </a:solidFill>
              </a:defRPr>
            </a:pPr>
            <a:r>
              <a:rPr sz="5400" b="1" i="0">
                <a:solidFill>
                  <a:srgbClr val="65B32E"/>
                </a:solidFill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FA19D9-690A-461D-B34A-5990E868B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305300"/>
            <a:ext cx="65913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0" b="1" i="0">
                <a:solidFill>
                  <a:srgbClr val="172033"/>
                </a:solidFill>
              </a:defRPr>
            </a:pPr>
            <a:r>
              <a:rPr sz="2550" b="1" i="0">
                <a:solidFill>
                  <a:srgbClr val="172033"/>
                </a:solidFill>
              </a:rPr>
              <a:t>Path params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8E31B7-4FD4-4DA0-9B4C-E046F5343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781550"/>
            <a:ext cx="7429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6000"/>
              </a:lnSpc>
              <a:buNone/>
              <a:defRPr sz="1800" b="0" i="0">
                <a:solidFill>
                  <a:srgbClr val="596579"/>
                </a:solidFill>
              </a:defRPr>
            </a:pPr>
            <a:r>
              <a:rPr sz="1800" b="0" i="0">
                <a:solidFill>
                  <a:srgbClr val="596579"/>
                </a:solidFill>
              </a:rPr>
              <a:t>Use parameter examples, schema examples, defaults, or `sample-name`.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6A5BEA-B506-4189-9661-039A97B4C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76900"/>
            <a:ext cx="8001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400" b="1" i="0">
                <a:solidFill>
                  <a:srgbClr val="2563EB"/>
                </a:solidFill>
              </a:defRPr>
            </a:pPr>
            <a:r>
              <a:rPr sz="5400" b="1" i="0">
                <a:solidFill>
                  <a:srgbClr val="2563EB"/>
                </a:solidFill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5FF14D-A9AA-4711-9092-E6912264D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581650"/>
            <a:ext cx="65913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0" b="1" i="0">
                <a:solidFill>
                  <a:srgbClr val="172033"/>
                </a:solidFill>
              </a:defRPr>
            </a:pPr>
            <a:r>
              <a:rPr sz="2550" b="1" i="0">
                <a:solidFill>
                  <a:srgbClr val="172033"/>
                </a:solidFill>
              </a:rPr>
              <a:t>Query params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F6DCC1-74AD-4A9F-8EDD-DC761A1E2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6038850"/>
            <a:ext cx="55054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6000"/>
              </a:lnSpc>
              <a:buNone/>
              <a:defRPr sz="1800" b="0" i="0">
                <a:solidFill>
                  <a:srgbClr val="596579"/>
                </a:solidFill>
              </a:defRPr>
            </a:pPr>
            <a:r>
              <a:rPr sz="1800" b="0" i="0">
                <a:solidFill>
                  <a:srgbClr val="596579"/>
                </a:solidFill>
              </a:rPr>
              <a:t>Append concrete values through `URLSearchParams`.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4844B9-4D23-4219-8F93-8C335359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086600"/>
            <a:ext cx="8001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400" b="1" i="0">
                <a:solidFill>
                  <a:srgbClr val="F97316"/>
                </a:solidFill>
              </a:defRPr>
            </a:pPr>
            <a:r>
              <a:rPr sz="5400" b="1" i="0">
                <a:solidFill>
                  <a:srgbClr val="F97316"/>
                </a:solidFill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A03BD6-7A92-4F8E-BA2B-39EED7373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6991350"/>
            <a:ext cx="65913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0" b="1" i="0">
                <a:solidFill>
                  <a:srgbClr val="172033"/>
                </a:solidFill>
              </a:defRPr>
            </a:pPr>
            <a:r>
              <a:rPr sz="2550" b="1" i="0">
                <a:solidFill>
                  <a:srgbClr val="172033"/>
                </a:solidFill>
              </a:rPr>
              <a:t>Request body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9B52F5-477E-4CFC-B187-3E8CD4ED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48550"/>
            <a:ext cx="49530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6000"/>
              </a:lnSpc>
              <a:buNone/>
              <a:defRPr sz="1800" b="0" i="0">
                <a:solidFill>
                  <a:srgbClr val="596579"/>
                </a:solidFill>
              </a:defRPr>
            </a:pPr>
            <a:r>
              <a:rPr sz="1800" b="0" i="0">
                <a:solidFill>
                  <a:srgbClr val="596579"/>
                </a:solidFill>
              </a:rPr>
              <a:t>JSON examples become Playwright `{ data: ... }`.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0373AB-548D-4122-B7C6-087842A88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886450"/>
            <a:ext cx="5905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0" b="1" i="0">
                <a:solidFill>
                  <a:srgbClr val="2F7D32"/>
                </a:solidFill>
              </a:defRPr>
            </a:pPr>
            <a:r>
              <a:rPr sz="2850" b="1" i="0">
                <a:solidFill>
                  <a:srgbClr val="2F7D32"/>
                </a:solidFill>
              </a:rPr>
              <a:t>-&gt;</a:t>
            </a:r>
          </a:p>
        </p:txBody>
      </p:sp>
      <p:sp>
        <p:nvSpPr>
          <p:cNvPr id="14" name="code-block">
            <a:extLst xmlns:a="http://schemas.openxmlformats.org/drawingml/2006/main">
              <a:ext uri="{FF2B5EF4-FFF2-40B4-BE49-F238E27FC236}">
                <a16:creationId xmlns:a16="http://schemas.microsoft.com/office/drawing/2014/main" id="{D24052BC-57A8-4AB8-AFF7-31F383042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0878" y="4286783"/>
            <a:ext cx="7637972" cy="2817495"/>
          </a:xfrm>
          <a:prstGeom xmlns:a="http://schemas.openxmlformats.org/drawingml/2006/main" prst="roundRect">
            <a:avLst>
              <a:gd name="adj" fmla="val 6761"/>
            </a:avLst>
          </a:prstGeom>
          <a:solidFill xmlns:a="http://schemas.openxmlformats.org/drawingml/2006/main">
            <a:srgbClr val="111827"/>
          </a:solidFill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C2312F-A006-48DF-92E4-F05891AEC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514850"/>
            <a:ext cx="7105650" cy="2362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875" b="0" i="0">
                <a:solidFill>
                  <a:srgbClr val="D1E7FF"/>
                </a:solidFill>
              </a:defRPr>
            </a:pPr>
            <a:r>
              <a:rPr sz="1875" b="0" i="0">
                <a:solidFill>
                  <a:srgbClr val="D1E7FF"/>
                </a:solidFill>
              </a:rPr>
              <a:t>const response = await request.get('/v2')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875" b="0" i="0">
                <a:solidFill>
                  <a:srgbClr val="D1E7FF"/>
                </a:solidFill>
              </a:defRPr>
            </a:pPr>
            <a:r>
              <a:rPr sz="1875" b="0" i="0">
                <a:solidFill>
                  <a:srgbClr val="D1E7FF"/>
                </a:solidFill>
              </a:rPr>
              <a:t>const created = await request.post('/users', {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875" b="0" i="0">
                <a:solidFill>
                  <a:srgbClr val="D1E7FF"/>
                </a:solidFill>
              </a:defRPr>
            </a:pPr>
            <a:r>
              <a:rPr sz="1875" b="0" i="0">
                <a:solidFill>
                  <a:srgbClr val="D1E7FF"/>
                </a:solidFill>
              </a:rPr>
              <a:t>  data: {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875" b="0" i="0">
                <a:solidFill>
                  <a:srgbClr val="D1E7FF"/>
                </a:solidFill>
              </a:defRPr>
            </a:pPr>
            <a:r>
              <a:rPr sz="1875" b="0" i="0">
                <a:solidFill>
                  <a:srgbClr val="D1E7FF"/>
                </a:solidFill>
              </a:rPr>
              <a:t>    name: 'Ada'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875" b="0" i="0">
                <a:solidFill>
                  <a:srgbClr val="D1E7FF"/>
                </a:solidFill>
              </a:defRPr>
            </a:pPr>
            <a:r>
              <a:rPr sz="1875" b="0" i="0">
                <a:solidFill>
                  <a:srgbClr val="D1E7FF"/>
                </a:solidFill>
              </a:rPr>
              <a:t>  }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875" b="0" i="0">
                <a:solidFill>
                  <a:srgbClr val="D1E7FF"/>
                </a:solidFill>
              </a:defRPr>
            </a:pPr>
            <a:r>
              <a:rPr sz="1875" b="0" i="0">
                <a:solidFill>
                  <a:srgbClr val="D1E7FF"/>
                </a:solidFill>
              </a:rPr>
              <a:t>})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94579C-4C41-4F5B-BA71-A6239E589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7334250"/>
            <a:ext cx="65913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75" b="0" i="0">
                <a:solidFill>
                  <a:srgbClr val="596579"/>
                </a:solidFill>
              </a:defRPr>
            </a:pPr>
            <a:r>
              <a:rPr sz="1875" b="0" i="0">
                <a:solidFill>
                  <a:srgbClr val="596579"/>
                </a:solidFill>
              </a:rPr>
              <a:t>The generated request uses Playwright Test's built-in `request` fixture, so no browser page is needed.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5F81E1-5F95-4694-94A7-862A9FF95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601200"/>
            <a:ext cx="166497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50" b="0" i="0">
                <a:solidFill>
                  <a:srgbClr val="8B7D68"/>
                </a:solidFill>
              </a:defRPr>
            </a:pPr>
            <a:r>
              <a:rPr sz="1050" b="0" i="0">
                <a:solidFill>
                  <a:srgbClr val="8B7D68"/>
                </a:solidFill>
              </a:rPr>
              <a:t>Playwright API tests can call GET, POST, PUT, PATCH, DELETE, HEAD, and fetch-style requests directly.</a:t>
            </a:r>
          </a:p>
        </p:txBody>
      </p:sp>
    </p:spTree>
    <p:extLst>
      <p:ext uri="{BB962C8B-B14F-4D97-AF65-F5344CB8AC3E}">
        <p14:creationId xmlns:p14="http://schemas.microsoft.com/office/powerpoint/2010/main" val="49486980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g">
            <a:extLst xmlns:a="http://schemas.openxmlformats.org/drawingml/2006/main">
              <a:ext uri="{FF2B5EF4-FFF2-40B4-BE49-F238E27FC236}">
                <a16:creationId xmlns:a16="http://schemas.microsoft.com/office/drawing/2014/main" id="{939B3361-602D-47F8-BF61-96E624752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B5E33A4-9352-4D7C-9252-59A75F2A1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"/>
            <a:ext cx="695325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8000"/>
              </a:lnSpc>
              <a:buNone/>
              <a:defRPr sz="4200" b="1" i="0">
                <a:solidFill>
                  <a:srgbClr val="172033"/>
                </a:solidFill>
              </a:defRPr>
            </a:pPr>
            <a:r>
              <a:rPr sz="4200" b="1" i="0">
                <a:solidFill>
                  <a:srgbClr val="172033"/>
                </a:solidFill>
              </a:rPr>
              <a:t>Step 4: Build the assertions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C84F05D8-1928-4CDF-B4DD-C1080BAE8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43100"/>
            <a:ext cx="8039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75" b="0" i="0">
                <a:solidFill>
                  <a:srgbClr val="596579"/>
                </a:solidFill>
              </a:defRPr>
            </a:pPr>
            <a:r>
              <a:rPr sz="1875" b="0" i="0">
                <a:solidFill>
                  <a:srgbClr val="596579"/>
                </a:solidFill>
              </a:rPr>
              <a:t>The first 2xx response contract decides how rich the generated test can be.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3427D7-3772-48A6-BE3D-AAD265D06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02350"/>
            <a:ext cx="3048000" cy="895350"/>
          </a:xfrm>
          <a:prstGeom xmlns:a="http://schemas.openxmlformats.org/drawingml/2006/main" prst="roundRect">
            <a:avLst>
              <a:gd name="adj" fmla="val 25532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33F75D-DEBB-4B50-9115-513D3F8B1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90900"/>
            <a:ext cx="2705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75" b="1" i="0">
                <a:solidFill>
                  <a:srgbClr val="65B32E"/>
                </a:solidFill>
              </a:defRPr>
            </a:pPr>
            <a:r>
              <a:rPr sz="1875" b="1" i="0">
                <a:solidFill>
                  <a:srgbClr val="65B32E"/>
                </a:solidFill>
              </a:rPr>
              <a:t>2xx response?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65481A-B3B3-4D04-837E-A3911FDF5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95750"/>
            <a:ext cx="1866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350" b="0" i="0">
                <a:solidFill>
                  <a:srgbClr val="596579"/>
                </a:solidFill>
              </a:defRPr>
            </a:pPr>
            <a:r>
              <a:rPr sz="1350" b="0" i="0">
                <a:solidFill>
                  <a:srgbClr val="596579"/>
                </a:solidFill>
              </a:rPr>
              <a:t>otherwise skip operation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D72CF3-AE9D-4F9F-9EBB-97E5F0CA1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24400"/>
            <a:ext cx="5905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0" b="1" i="0">
                <a:solidFill>
                  <a:srgbClr val="2F7D32"/>
                </a:solidFill>
              </a:defRPr>
            </a:pPr>
            <a:r>
              <a:rPr sz="2850" b="1" i="0">
                <a:solidFill>
                  <a:srgbClr val="2F7D32"/>
                </a:solidFill>
              </a:rPr>
              <a:t>-&gt;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9CE000-7734-4A3E-A785-482E997BB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22818"/>
            <a:ext cx="3048000" cy="895350"/>
          </a:xfrm>
          <a:prstGeom xmlns:a="http://schemas.openxmlformats.org/drawingml/2006/main" prst="roundRect">
            <a:avLst>
              <a:gd name="adj" fmla="val 25532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5CA5BC-8CDB-43E8-BF93-B7DF5E943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619750"/>
            <a:ext cx="2705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75" b="1" i="0">
                <a:solidFill>
                  <a:srgbClr val="2563EB"/>
                </a:solidFill>
              </a:defRPr>
            </a:pPr>
            <a:r>
              <a:rPr sz="1875" b="1" i="0">
                <a:solidFill>
                  <a:srgbClr val="2563EB"/>
                </a:solidFill>
              </a:rPr>
              <a:t>JSON content?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8534F0-1195-4E7A-9D8F-F00DA55BE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305550"/>
            <a:ext cx="25908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350" b="0" i="0">
                <a:solidFill>
                  <a:srgbClr val="596579"/>
                </a:solidFill>
              </a:defRPr>
            </a:pPr>
            <a:r>
              <a:rPr sz="1350" b="0" i="0">
                <a:solidFill>
                  <a:srgbClr val="596579"/>
                </a:solidFill>
              </a:rPr>
              <a:t>assert content-type when present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4C2D7B-9167-477E-B2B1-80FB3FC17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705600"/>
            <a:ext cx="5905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0" b="1" i="0">
                <a:solidFill>
                  <a:srgbClr val="2F7D32"/>
                </a:solidFill>
              </a:defRPr>
            </a:pPr>
            <a:r>
              <a:rPr sz="2850" b="1" i="0">
                <a:solidFill>
                  <a:srgbClr val="2F7D32"/>
                </a:solidFill>
              </a:rPr>
              <a:t>-&gt;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85417D-0A90-4C37-8FF2-DEC86EBC1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316972"/>
            <a:ext cx="3048000" cy="895350"/>
          </a:xfrm>
          <a:prstGeom xmlns:a="http://schemas.openxmlformats.org/drawingml/2006/main" prst="roundRect">
            <a:avLst>
              <a:gd name="adj" fmla="val 25532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9BEC84-A71A-423E-8BF7-3875F7E2A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7620000"/>
            <a:ext cx="2705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75" b="1" i="0">
                <a:solidFill>
                  <a:srgbClr val="F97316"/>
                </a:solidFill>
              </a:defRPr>
            </a:pPr>
            <a:r>
              <a:rPr sz="1875" b="1" i="0">
                <a:solidFill>
                  <a:srgbClr val="F97316"/>
                </a:solidFill>
              </a:rPr>
              <a:t>example body?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D5048E-2D45-45A2-9E8E-70A332C0E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8305800"/>
            <a:ext cx="1866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350" b="0" i="0">
                <a:solidFill>
                  <a:srgbClr val="596579"/>
                </a:solidFill>
              </a:defRPr>
            </a:pPr>
            <a:r>
              <a:rPr sz="1350" b="0" i="0">
                <a:solidFill>
                  <a:srgbClr val="596579"/>
                </a:solidFill>
              </a:rPr>
              <a:t>assert exact JSON body</a:t>
            </a:r>
          </a:p>
        </p:txBody>
      </p:sp>
      <p:sp>
        <p:nvSpPr>
          <p:cNvPr id="15" name="code-block">
            <a:extLst xmlns:a="http://schemas.openxmlformats.org/drawingml/2006/main">
              <a:ext uri="{FF2B5EF4-FFF2-40B4-BE49-F238E27FC236}">
                <a16:creationId xmlns:a16="http://schemas.microsoft.com/office/drawing/2014/main" id="{A82CEDD4-F936-436B-A90D-37345A598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167778"/>
            <a:ext cx="8077200" cy="2723083"/>
          </a:xfrm>
          <a:prstGeom xmlns:a="http://schemas.openxmlformats.org/drawingml/2006/main" prst="roundRect">
            <a:avLst>
              <a:gd name="adj" fmla="val 6996"/>
            </a:avLst>
          </a:prstGeom>
          <a:solidFill xmlns:a="http://schemas.openxmlformats.org/drawingml/2006/main">
            <a:srgbClr val="111827"/>
          </a:solidFill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B479EC-0B2A-4172-A9BF-2C4C38276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400550"/>
            <a:ext cx="7543800" cy="2266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800" b="0" i="0">
                <a:solidFill>
                  <a:srgbClr val="D1E7FF"/>
                </a:solidFill>
              </a:defRPr>
            </a:pPr>
            <a:r>
              <a:rPr sz="1800" b="0" i="0">
                <a:solidFill>
                  <a:srgbClr val="D1E7FF"/>
                </a:solidFill>
              </a:rPr>
              <a:t>expect(response.status()).toBe(200)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800" b="0" i="0">
                <a:solidFill>
                  <a:srgbClr val="D1E7FF"/>
                </a:solidFill>
              </a:defRPr>
            </a:pPr>
            <a:r>
              <a:rPr sz="1800" b="0" i="0">
                <a:solidFill>
                  <a:srgbClr val="D1E7FF"/>
                </a:solidFill>
              </a:rPr>
              <a:t>expect(response.headers()['content-type'])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800" b="0" i="0">
                <a:solidFill>
                  <a:srgbClr val="D1E7FF"/>
                </a:solidFill>
              </a:defRPr>
            </a:pPr>
            <a:r>
              <a:rPr sz="1800" b="0" i="0">
                <a:solidFill>
                  <a:srgbClr val="D1E7FF"/>
                </a:solidFill>
              </a:rPr>
              <a:t>  .toContain('application/json')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800" b="0" i="0">
                <a:solidFill>
                  <a:srgbClr val="D1E7FF"/>
                </a:solidFill>
              </a:defRPr>
            </a:pPr>
            <a:r>
              <a:rPr sz="1800" b="0" i="0">
                <a:solidFill>
                  <a:srgbClr val="D1E7FF"/>
                </a:solidFill>
              </a:rPr>
              <a:t>const body = await response.json()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800" b="0" i="0">
                <a:solidFill>
                  <a:srgbClr val="D1E7FF"/>
                </a:solidFill>
              </a:defRPr>
            </a:pPr>
            <a:r>
              <a:rPr sz="1800" b="0" i="0">
                <a:solidFill>
                  <a:srgbClr val="D1E7FF"/>
                </a:solidFill>
              </a:rPr>
              <a:t>expect(body).toEqual(expectedExample)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82B0BF-91FE-489D-8CF8-0FB1CB57F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7105650"/>
            <a:ext cx="69151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50" b="0" i="0">
                <a:solidFill>
                  <a:srgbClr val="596579"/>
                </a:solidFill>
              </a:defRPr>
            </a:pPr>
            <a:r>
              <a:rPr sz="1950" b="0" i="0">
                <a:solidFill>
                  <a:srgbClr val="596579"/>
                </a:solidFill>
              </a:rPr>
              <a:t>Schema-only responses still produce status checks. Examples unlock full body assertions.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A484E3-E146-4805-A1DD-72DBAB9FB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601200"/>
            <a:ext cx="166497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50" b="0" i="0">
                <a:solidFill>
                  <a:srgbClr val="8B7D68"/>
                </a:solidFill>
              </a:defRPr>
            </a:pPr>
            <a:r>
              <a:rPr sz="1050" b="0" i="0">
                <a:solidFill>
                  <a:srgbClr val="8B7D68"/>
                </a:solidFill>
              </a:rPr>
              <a:t>Implementation anchor: selectSuccessResponseContract() in scripts/lib/openapi.ts</a:t>
            </a:r>
          </a:p>
        </p:txBody>
      </p:sp>
    </p:spTree>
    <p:extLst>
      <p:ext uri="{BB962C8B-B14F-4D97-AF65-F5344CB8AC3E}">
        <p14:creationId xmlns:p14="http://schemas.microsoft.com/office/powerpoint/2010/main" val="166011859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g">
            <a:extLst xmlns:a="http://schemas.openxmlformats.org/drawingml/2006/main">
              <a:ext uri="{FF2B5EF4-FFF2-40B4-BE49-F238E27FC236}">
                <a16:creationId xmlns:a16="http://schemas.microsoft.com/office/drawing/2014/main" id="{34439AC4-E589-45C2-A032-2053C2937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F9858EC-1E5A-4684-A208-EBDB54E3F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"/>
            <a:ext cx="6057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8000"/>
              </a:lnSpc>
              <a:buNone/>
              <a:defRPr sz="4200" b="1" i="0">
                <a:solidFill>
                  <a:srgbClr val="172033"/>
                </a:solidFill>
              </a:defRPr>
            </a:pPr>
            <a:r>
              <a:rPr sz="4200" b="1" i="0">
                <a:solidFill>
                  <a:srgbClr val="172033"/>
                </a:solidFill>
              </a:rPr>
              <a:t>Step 5: Emit the test file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CE7D8B33-BEA2-4957-A853-BDF40A3C6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43100"/>
            <a:ext cx="90868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75" b="0" i="0">
                <a:solidFill>
                  <a:srgbClr val="596579"/>
                </a:solidFill>
              </a:defRPr>
            </a:pPr>
            <a:r>
              <a:rPr sz="1875" b="0" i="0">
                <a:solidFill>
                  <a:srgbClr val="596579"/>
                </a:solidFill>
              </a:rPr>
              <a:t>The output is a normal Playwright spec file that can be reviewed, committed, and run.</a:t>
            </a:r>
          </a:p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53993d6ad44f79"/>
          <a:stretch xmlns:a="http://schemas.openxmlformats.org/drawingml/2006/main"/>
        </p:blipFill>
        <p:spPr>
          <a:xfrm xmlns:a="http://schemas.openxmlformats.org/drawingml/2006/main">
            <a:off x="819150" y="4164097"/>
            <a:ext cx="4000500" cy="120816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59D6FF-23E7-4CE6-82ED-C3A585F7B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91200"/>
            <a:ext cx="2095500" cy="895350"/>
          </a:xfrm>
          <a:prstGeom xmlns:a="http://schemas.openxmlformats.org/drawingml/2006/main" prst="roundRect">
            <a:avLst>
              <a:gd name="adj" fmla="val 25532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BF1246-5148-483F-91E9-A0E7EB1A9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096000"/>
            <a:ext cx="1752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75" b="1" i="0">
                <a:solidFill>
                  <a:srgbClr val="65B32E"/>
                </a:solidFill>
              </a:defRPr>
            </a:pPr>
            <a:r>
              <a:rPr sz="1875" b="1" i="0">
                <a:solidFill>
                  <a:srgbClr val="65B32E"/>
                </a:solidFill>
              </a:rPr>
              <a:t>operation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CAC6E0-9FAA-4EAB-AF94-12F17B6D4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6781800"/>
            <a:ext cx="609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350" b="0" i="0">
                <a:solidFill>
                  <a:srgbClr val="596579"/>
                </a:solidFill>
              </a:defRPr>
            </a:pPr>
            <a:r>
              <a:rPr sz="1350" b="0" i="0">
                <a:solidFill>
                  <a:srgbClr val="596579"/>
                </a:solidFill>
              </a:rPr>
              <a:t>GET /v2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B2A1BC-4CF8-40CE-A66A-39027090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6191250"/>
            <a:ext cx="5905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0" b="1" i="0">
                <a:solidFill>
                  <a:srgbClr val="596579"/>
                </a:solidFill>
              </a:defRPr>
            </a:pPr>
            <a:r>
              <a:rPr sz="2850" b="1" i="0">
                <a:solidFill>
                  <a:srgbClr val="596579"/>
                </a:solidFill>
              </a:rPr>
              <a:t>-&gt;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378A48-0596-43FE-A658-6A2A9913D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5676900"/>
            <a:ext cx="2381250" cy="895350"/>
          </a:xfrm>
          <a:prstGeom xmlns:a="http://schemas.openxmlformats.org/drawingml/2006/main" prst="roundRect">
            <a:avLst>
              <a:gd name="adj" fmla="val 25532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89526B-5517-4EAE-A221-EAB8D3B31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981700"/>
            <a:ext cx="20574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75" b="1" i="0">
                <a:solidFill>
                  <a:srgbClr val="2563EB"/>
                </a:solidFill>
              </a:defRPr>
            </a:pPr>
            <a:r>
              <a:rPr sz="1875" b="1" i="0">
                <a:solidFill>
                  <a:srgbClr val="2563EB"/>
                </a:solidFill>
              </a:rPr>
              <a:t>test()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2D7BB5-2BEB-4790-8257-3E0120CE8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6667500"/>
            <a:ext cx="1524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350" b="0" i="0">
                <a:solidFill>
                  <a:srgbClr val="596579"/>
                </a:solidFill>
              </a:defRPr>
            </a:pPr>
            <a:r>
              <a:rPr sz="1350" b="0" i="0">
                <a:solidFill>
                  <a:srgbClr val="596579"/>
                </a:solidFill>
              </a:rPr>
              <a:t>one generated case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B8B769-FFB1-4041-BB87-D5297314D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410450"/>
            <a:ext cx="62103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00" b="1" i="0">
                <a:solidFill>
                  <a:srgbClr val="172033"/>
                </a:solidFill>
              </a:defRPr>
            </a:pPr>
            <a:r>
              <a:rPr sz="2100" b="1" i="0">
                <a:solidFill>
                  <a:srgbClr val="172033"/>
                </a:solidFill>
              </a:rPr>
              <a:t>Generated file: `tests/generated/openapi.spec.ts`</a:t>
            </a:r>
          </a:p>
        </p:txBody>
      </p:sp>
      <p:sp>
        <p:nvSpPr>
          <p:cNvPr id="13" name="code-block">
            <a:extLst xmlns:a="http://schemas.openxmlformats.org/drawingml/2006/main">
              <a:ext uri="{FF2B5EF4-FFF2-40B4-BE49-F238E27FC236}">
                <a16:creationId xmlns:a16="http://schemas.microsoft.com/office/drawing/2014/main" id="{223FE121-A821-4E4C-83BD-C83BA4C4C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921432"/>
            <a:ext cx="8905875" cy="6348298"/>
          </a:xfrm>
          <a:prstGeom xmlns:a="http://schemas.openxmlformats.org/drawingml/2006/main" prst="roundRect">
            <a:avLst>
              <a:gd name="adj" fmla="val 3001"/>
            </a:avLst>
          </a:prstGeom>
          <a:solidFill xmlns:a="http://schemas.openxmlformats.org/drawingml/2006/main">
            <a:srgbClr val="111827"/>
          </a:solidFill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57B512-0651-44EA-99F9-0A01FA46F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143250"/>
            <a:ext cx="8382000" cy="2438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350" b="0" i="0">
                <a:solidFill>
                  <a:srgbClr val="D1E7FF"/>
                </a:solidFill>
              </a:defRPr>
            </a:pPr>
            <a:r>
              <a:rPr sz="1350" b="0" i="0">
                <a:solidFill>
                  <a:srgbClr val="D1E7FF"/>
                </a:solidFill>
              </a:rPr>
              <a:t>import { expect, test } from '@playwright/test'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350" b="0" i="0">
                <a:solidFill>
                  <a:srgbClr val="D1E7FF"/>
                </a:solidFill>
              </a:defRPr>
            </a:pPr>
            <a:r>
              <a:rPr sz="1350" b="0" i="0">
                <a:solidFill>
                  <a:srgbClr val="D1E7FF"/>
                </a:solidFill>
              </a:rPr>
              <a:t>test.describe('OpenAPI generated contract examples', () =&gt; {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350" b="0" i="0">
                <a:solidFill>
                  <a:srgbClr val="D1E7FF"/>
                </a:solidFill>
              </a:defRPr>
            </a:pPr>
            <a:r>
              <a:rPr sz="1350" b="0" i="0">
                <a:solidFill>
                  <a:srgbClr val="D1E7FF"/>
                </a:solidFill>
              </a:rPr>
              <a:t>  test('GET /v2 getVersionDetailsv2 returns 200', async ({ request }) =&gt; {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350" b="0" i="0">
                <a:solidFill>
                  <a:srgbClr val="D1E7FF"/>
                </a:solidFill>
              </a:defRPr>
            </a:pPr>
            <a:r>
              <a:rPr sz="1350" b="0" i="0">
                <a:solidFill>
                  <a:srgbClr val="D1E7FF"/>
                </a:solidFill>
              </a:rPr>
              <a:t>    const response = await request.get('/v2')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350" b="0" i="0">
                <a:solidFill>
                  <a:srgbClr val="D1E7FF"/>
                </a:solidFill>
              </a:defRPr>
            </a:pPr>
            <a:r>
              <a:rPr sz="1350" b="0" i="0">
                <a:solidFill>
                  <a:srgbClr val="D1E7FF"/>
                </a:solidFill>
              </a:rPr>
              <a:t>    expect(response.status()).toBe(200)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350" b="0" i="0">
                <a:solidFill>
                  <a:srgbClr val="D1E7FF"/>
                </a:solidFill>
              </a:defRPr>
            </a:pPr>
            <a:r>
              <a:rPr sz="1350" b="0" i="0">
                <a:solidFill>
                  <a:srgbClr val="D1E7FF"/>
                </a:solidFill>
              </a:rPr>
              <a:t>    const body = await response.json()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350" b="0" i="0">
                <a:solidFill>
                  <a:srgbClr val="D1E7FF"/>
                </a:solidFill>
              </a:defRPr>
            </a:pPr>
            <a:r>
              <a:rPr sz="1350" b="0" i="0">
                <a:solidFill>
                  <a:srgbClr val="D1E7FF"/>
                </a:solidFill>
              </a:rPr>
              <a:t>    expect(body).toEqual({...})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350" b="0" i="0">
                <a:solidFill>
                  <a:srgbClr val="D1E7FF"/>
                </a:solidFill>
              </a:defRPr>
            </a:pPr>
            <a:r>
              <a:rPr sz="1350" b="0" i="0">
                <a:solidFill>
                  <a:srgbClr val="D1E7FF"/>
                </a:solidFill>
              </a:rPr>
              <a:t>  })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350" b="0" i="0">
                <a:solidFill>
                  <a:srgbClr val="D1E7FF"/>
                </a:solidFill>
              </a:defRPr>
            </a:pPr>
            <a:r>
              <a:rPr sz="1350" b="0" i="0">
                <a:solidFill>
                  <a:srgbClr val="D1E7FF"/>
                </a:solidFill>
              </a:rPr>
              <a:t>})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852227-3D43-48A8-8AA7-88EA54F2C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601200"/>
            <a:ext cx="166497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50" b="0" i="0">
                <a:solidFill>
                  <a:srgbClr val="8B7D68"/>
                </a:solidFill>
              </a:defRPr>
            </a:pPr>
            <a:r>
              <a:rPr sz="1050" b="0" i="0">
                <a:solidFill>
                  <a:srgbClr val="8B7D68"/>
                </a:solidFill>
              </a:rPr>
              <a:t>Spec-driven API test automation learning project</a:t>
            </a:r>
          </a:p>
        </p:txBody>
      </p:sp>
    </p:spTree>
    <p:extLst>
      <p:ext uri="{BB962C8B-B14F-4D97-AF65-F5344CB8AC3E}">
        <p14:creationId xmlns:p14="http://schemas.microsoft.com/office/powerpoint/2010/main" val="186404508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g">
            <a:extLst xmlns:a="http://schemas.openxmlformats.org/drawingml/2006/main">
              <a:ext uri="{FF2B5EF4-FFF2-40B4-BE49-F238E27FC236}">
                <a16:creationId xmlns:a16="http://schemas.microsoft.com/office/drawing/2014/main" id="{2DF53D2B-152F-4CC1-B85E-F87012AFF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</p:spPr>
      </p:sp>
      <p:sp>
        <p:nvSpPr>
          <p:cNvPr id="2" name="edge-slide-title">
            <a:extLst xmlns:a="http://schemas.openxmlformats.org/drawingml/2006/main">
              <a:ext uri="{FF2B5EF4-FFF2-40B4-BE49-F238E27FC236}">
                <a16:creationId xmlns:a16="http://schemas.microsoft.com/office/drawing/2014/main" id="{76CE5747-0AD7-430B-B6E0-A4F3B6FC0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"/>
            <a:ext cx="7239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8000"/>
              </a:lnSpc>
              <a:buNone/>
              <a:defRPr sz="4200" b="1" i="0">
                <a:solidFill>
                  <a:srgbClr val="172033"/>
                </a:solidFill>
              </a:defRPr>
            </a:pPr>
            <a:r>
              <a:rPr sz="4200" b="1" i="0">
                <a:solidFill>
                  <a:srgbClr val="172033"/>
                </a:solidFill>
              </a:rPr>
              <a:t>Edge tests</a:t>
            </a:r>
          </a:p>
        </p:txBody>
      </p:sp>
      <p:sp>
        <p:nvSpPr>
          <p:cNvPr id="3" name="edge-slide-subtitle">
            <a:extLst xmlns:a="http://schemas.openxmlformats.org/drawingml/2006/main">
              <a:ext uri="{FF2B5EF4-FFF2-40B4-BE49-F238E27FC236}">
                <a16:creationId xmlns:a16="http://schemas.microsoft.com/office/drawing/2014/main" id="{CAC61C7B-E5D6-4CD9-9648-CBD4594C6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09700"/>
            <a:ext cx="8953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75" b="0" i="0">
                <a:solidFill>
                  <a:srgbClr val="596579"/>
                </a:solidFill>
              </a:defRPr>
            </a:pPr>
            <a:r>
              <a:rPr sz="1875" b="0" i="0">
                <a:solidFill>
                  <a:srgbClr val="596579"/>
                </a:solidFill>
              </a:rPr>
              <a:t>Step 6: negative tests need invalid requests, not just successful response examples.</a:t>
            </a:r>
          </a:p>
        </p:txBody>
      </p:sp>
      <p:sp>
        <p:nvSpPr>
          <p:cNvPr id="4" name="edge-signal-Required input?">
            <a:extLst xmlns:a="http://schemas.openxmlformats.org/drawingml/2006/main">
              <a:ext uri="{FF2B5EF4-FFF2-40B4-BE49-F238E27FC236}">
                <a16:creationId xmlns:a16="http://schemas.microsoft.com/office/drawing/2014/main" id="{BE44D879-4A87-465D-9F40-0EF23A18C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8946"/>
            <a:ext cx="4191000" cy="12192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A3D753-F608-454C-815E-4FDB89913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95650"/>
            <a:ext cx="37338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50" b="1" i="0">
                <a:solidFill>
                  <a:srgbClr val="65B32E"/>
                </a:solidFill>
              </a:defRPr>
            </a:pPr>
            <a:r>
              <a:rPr sz="1950" b="1" i="0">
                <a:solidFill>
                  <a:srgbClr val="65B32E"/>
                </a:solidFill>
              </a:rPr>
              <a:t>Required input?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A1EECB-4E00-4547-A0F3-DE9CAF80D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76650"/>
            <a:ext cx="37338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425" b="0" i="0">
                <a:solidFill>
                  <a:srgbClr val="596579"/>
                </a:solidFill>
              </a:defRPr>
            </a:pPr>
            <a:r>
              <a:rPr sz="1425" b="0" i="0">
                <a:solidFill>
                  <a:srgbClr val="596579"/>
                </a:solidFill>
              </a:rPr>
              <a:t>Omit query, header, or body.</a:t>
            </a:r>
          </a:p>
        </p:txBody>
      </p:sp>
      <p:sp>
        <p:nvSpPr>
          <p:cNvPr id="7" name="edge-signal-Schema constraint?">
            <a:extLst xmlns:a="http://schemas.openxmlformats.org/drawingml/2006/main">
              <a:ext uri="{FF2B5EF4-FFF2-40B4-BE49-F238E27FC236}">
                <a16:creationId xmlns:a16="http://schemas.microsoft.com/office/drawing/2014/main" id="{75388863-A7FE-40CD-83FB-998126D22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70546"/>
            <a:ext cx="4191000" cy="12192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432786-CF4E-46EA-97BF-C813F4FE6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37338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50" b="1" i="0">
                <a:solidFill>
                  <a:srgbClr val="2563EB"/>
                </a:solidFill>
              </a:defRPr>
            </a:pPr>
            <a:r>
              <a:rPr sz="1950" b="1" i="0">
                <a:solidFill>
                  <a:srgbClr val="2563EB"/>
                </a:solidFill>
              </a:rPr>
              <a:t>Schema constraint?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FD392C-FD3A-48E5-9C5E-26EB6DC63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48250"/>
            <a:ext cx="37338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425" b="0" i="0">
                <a:solidFill>
                  <a:srgbClr val="596579"/>
                </a:solidFill>
              </a:defRPr>
            </a:pPr>
            <a:r>
              <a:rPr sz="1425" b="0" i="0">
                <a:solidFill>
                  <a:srgbClr val="596579"/>
                </a:solidFill>
              </a:rPr>
              <a:t>Mutate type, enum, min/max, or format.</a:t>
            </a:r>
          </a:p>
        </p:txBody>
      </p:sp>
      <p:sp>
        <p:nvSpPr>
          <p:cNvPr id="10" name="edge-signal-Security?">
            <a:extLst xmlns:a="http://schemas.openxmlformats.org/drawingml/2006/main">
              <a:ext uri="{FF2B5EF4-FFF2-40B4-BE49-F238E27FC236}">
                <a16:creationId xmlns:a16="http://schemas.microsoft.com/office/drawing/2014/main" id="{7A95A51B-32F0-45A5-80C2-9E2DAD065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42146"/>
            <a:ext cx="4191000" cy="12192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F1157F-EEBA-4321-96BD-4D6F5DEFD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038850"/>
            <a:ext cx="37338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50" b="1" i="0">
                <a:solidFill>
                  <a:srgbClr val="F97316"/>
                </a:solidFill>
              </a:defRPr>
            </a:pPr>
            <a:r>
              <a:rPr sz="1950" b="1" i="0">
                <a:solidFill>
                  <a:srgbClr val="F97316"/>
                </a:solidFill>
              </a:rPr>
              <a:t>Security?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E57673-A5BE-4BC6-AD53-F81E07D60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419850"/>
            <a:ext cx="37338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425" b="0" i="0">
                <a:solidFill>
                  <a:srgbClr val="596579"/>
                </a:solidFill>
              </a:defRPr>
            </a:pPr>
            <a:r>
              <a:rPr sz="1425" b="0" i="0">
                <a:solidFill>
                  <a:srgbClr val="596579"/>
                </a:solidFill>
              </a:rPr>
              <a:t>Send request without auth.</a:t>
            </a:r>
          </a:p>
        </p:txBody>
      </p:sp>
      <p:sp>
        <p:nvSpPr>
          <p:cNvPr id="13" name="edge-signal-No route?">
            <a:extLst xmlns:a="http://schemas.openxmlformats.org/drawingml/2006/main">
              <a:ext uri="{FF2B5EF4-FFF2-40B4-BE49-F238E27FC236}">
                <a16:creationId xmlns:a16="http://schemas.microsoft.com/office/drawing/2014/main" id="{9CA990D5-C7CF-42E8-9539-E6F4DD7E9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113746"/>
            <a:ext cx="4191000" cy="12192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E157CB-E5F2-47AD-AD54-A5140AEA7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7410450"/>
            <a:ext cx="37338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50" b="1" i="0">
                <a:solidFill>
                  <a:srgbClr val="2F7D32"/>
                </a:solidFill>
              </a:defRPr>
            </a:pPr>
            <a:r>
              <a:rPr sz="1950" b="1" i="0">
                <a:solidFill>
                  <a:srgbClr val="2F7D32"/>
                </a:solidFill>
              </a:rPr>
              <a:t>No route?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5AE8AA-EABE-4458-A0ED-73161D79A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7791450"/>
            <a:ext cx="37338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425" b="0" i="0">
                <a:solidFill>
                  <a:srgbClr val="596579"/>
                </a:solidFill>
              </a:defRPr>
            </a:pPr>
            <a:r>
              <a:rPr sz="1425" b="0" i="0">
                <a:solidFill>
                  <a:srgbClr val="596579"/>
                </a:solidFill>
              </a:rPr>
              <a:t>Check undocumented path returns 404.</a:t>
            </a:r>
          </a:p>
        </p:txBody>
      </p:sp>
      <p:sp>
        <p:nvSpPr>
          <p:cNvPr id="16" name="code-block">
            <a:extLst xmlns:a="http://schemas.openxmlformats.org/drawingml/2006/main">
              <a:ext uri="{FF2B5EF4-FFF2-40B4-BE49-F238E27FC236}">
                <a16:creationId xmlns:a16="http://schemas.microsoft.com/office/drawing/2014/main" id="{9F4D63DD-4448-4A50-9E82-BED82E554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3638645"/>
            <a:ext cx="8067675" cy="2884932"/>
          </a:xfrm>
          <a:prstGeom xmlns:a="http://schemas.openxmlformats.org/drawingml/2006/main" prst="roundRect">
            <a:avLst>
              <a:gd name="adj" fmla="val 6603"/>
            </a:avLst>
          </a:prstGeom>
          <a:solidFill xmlns:a="http://schemas.openxmlformats.org/drawingml/2006/main">
            <a:srgbClr val="111827"/>
          </a:solidFill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051490-6B16-47EA-8BCA-60C0F469D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867150"/>
            <a:ext cx="7543800" cy="2438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500" b="0" i="0">
                <a:solidFill>
                  <a:srgbClr val="D1E7FF"/>
                </a:solidFill>
              </a:defRPr>
            </a:pPr>
            <a:r>
              <a:rPr sz="1500" b="0" i="0">
                <a:solidFill>
                  <a:srgbClr val="D1E7FF"/>
                </a:solidFill>
              </a:rPr>
              <a:t>npm run generate:edge-tests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500" b="0" i="0">
                <a:solidFill>
                  <a:srgbClr val="D1E7FF"/>
                </a:solidFill>
              </a:defRPr>
            </a:pPr>
            <a:r>
              <a:rPr sz="1500" b="0" i="0">
                <a:solidFill>
                  <a:srgbClr val="D1E7FF"/>
                </a:solidFill>
              </a:rPr>
              <a:t>npm run test:edge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500" b="0" i="0">
                <a:solidFill>
                  <a:srgbClr val="D1E7FF"/>
                </a:solidFill>
              </a:defRPr>
            </a:pPr>
            <a:r>
              <a:rPr sz="1500" b="0" i="0">
                <a:solidFill>
                  <a:srgbClr val="D1E7FF"/>
                </a:solidFill>
              </a:rPr>
              <a:t>test('rejects missing required query parameter', async ({ request }) =&gt; {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500" b="0" i="0">
                <a:solidFill>
                  <a:srgbClr val="D1E7FF"/>
                </a:solidFill>
              </a:defRPr>
            </a:pPr>
            <a:r>
              <a:rPr sz="1500" b="0" i="0">
                <a:solidFill>
                  <a:srgbClr val="D1E7FF"/>
                </a:solidFill>
              </a:rPr>
              <a:t>  const response = await request.fetch('/users', {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500" b="0" i="0">
                <a:solidFill>
                  <a:srgbClr val="D1E7FF"/>
                </a:solidFill>
              </a:defRPr>
            </a:pPr>
            <a:r>
              <a:rPr sz="1500" b="0" i="0">
                <a:solidFill>
                  <a:srgbClr val="D1E7FF"/>
                </a:solidFill>
              </a:rPr>
              <a:t>    method: 'GET'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500" b="0" i="0">
                <a:solidFill>
                  <a:srgbClr val="D1E7FF"/>
                </a:solidFill>
              </a:defRPr>
            </a:pPr>
            <a:r>
              <a:rPr sz="1500" b="0" i="0">
                <a:solidFill>
                  <a:srgbClr val="D1E7FF"/>
                </a:solidFill>
              </a:rPr>
              <a:t>  })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500" b="0" i="0">
                <a:solidFill>
                  <a:srgbClr val="D1E7FF"/>
                </a:solidFill>
              </a:defRPr>
            </a:pPr>
            <a:r>
              <a:rPr sz="1500" b="0" i="0">
                <a:solidFill>
                  <a:srgbClr val="D1E7FF"/>
                </a:solidFill>
              </a:rPr>
              <a:t>  expect(response.status()).toBe(400)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500" b="0" i="0">
                <a:solidFill>
                  <a:srgbClr val="D1E7FF"/>
                </a:solidFill>
              </a:defRPr>
            </a:pPr>
            <a:r>
              <a:rPr sz="1500" b="0" i="0">
                <a:solidFill>
                  <a:srgbClr val="D1E7FF"/>
                </a:solidFill>
              </a:rPr>
              <a:t>})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C46C3E-D6A1-449C-9985-6130B6FD9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6724650"/>
            <a:ext cx="7105650" cy="971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875" b="0" i="0">
                <a:solidFill>
                  <a:srgbClr val="596579"/>
                </a:solidFill>
              </a:defRPr>
            </a:pPr>
            <a:r>
              <a:rPr sz="1875" b="0" i="0">
                <a:solidFill>
                  <a:srgbClr val="596579"/>
                </a:solidFill>
              </a:rPr>
              <a:t>The sample spec produces the universal unknown-route edge test. Specs with required params, request bodies, auth, enums, and constraints produce richer negative tests.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17A08E-FF1B-4A43-8583-D1FAAF574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601200"/>
            <a:ext cx="166497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50" b="0" i="0">
                <a:solidFill>
                  <a:srgbClr val="8B7D68"/>
                </a:solidFill>
              </a:defRPr>
            </a:pPr>
            <a:r>
              <a:rPr sz="1050" b="0" i="0">
                <a:solidFill>
                  <a:srgbClr val="8B7D68"/>
                </a:solidFill>
              </a:rPr>
              <a:t>Implementation anchor: scripts/generate-edge-tests.ts</a:t>
            </a:r>
          </a:p>
        </p:txBody>
      </p:sp>
    </p:spTree>
    <p:extLst>
      <p:ext uri="{BB962C8B-B14F-4D97-AF65-F5344CB8AC3E}">
        <p14:creationId xmlns:p14="http://schemas.microsoft.com/office/powerpoint/2010/main" val="201172171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g">
            <a:extLst xmlns:a="http://schemas.openxmlformats.org/drawingml/2006/main">
              <a:ext uri="{FF2B5EF4-FFF2-40B4-BE49-F238E27FC236}">
                <a16:creationId xmlns:a16="http://schemas.microsoft.com/office/drawing/2014/main" id="{4C6CB98A-5C91-463A-93CD-FB920D232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B5DC1FC-96BF-4F74-A454-A87687731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"/>
            <a:ext cx="6610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8000"/>
              </a:lnSpc>
              <a:buNone/>
              <a:defRPr sz="4200" b="1" i="0">
                <a:solidFill>
                  <a:srgbClr val="172033"/>
                </a:solidFill>
              </a:defRPr>
            </a:pPr>
            <a:r>
              <a:rPr sz="4200" b="1" i="0">
                <a:solidFill>
                  <a:srgbClr val="172033"/>
                </a:solidFill>
              </a:rPr>
              <a:t>Run against the demo API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70405F11-53FE-48E0-A3F1-AE75247BE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314450"/>
            <a:ext cx="56578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75" b="0" i="0">
                <a:solidFill>
                  <a:srgbClr val="596579"/>
                </a:solidFill>
              </a:defRPr>
            </a:pPr>
            <a:r>
              <a:rPr sz="1875" b="0" i="0">
                <a:solidFill>
                  <a:srgbClr val="596579"/>
                </a:solidFill>
              </a:rPr>
              <a:t>`npm test` proves the whole learning loop end to end.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0C9E8D-7009-42A2-A2AB-37DE0A1FB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486150"/>
            <a:ext cx="2095500" cy="895350"/>
          </a:xfrm>
          <a:prstGeom xmlns:a="http://schemas.openxmlformats.org/drawingml/2006/main" prst="roundRect">
            <a:avLst>
              <a:gd name="adj" fmla="val 25532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ED994A-19EF-4400-8047-2AB48C5D4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790950"/>
            <a:ext cx="1752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75" b="1" i="0">
                <a:solidFill>
                  <a:srgbClr val="65B32E"/>
                </a:solidFill>
              </a:defRPr>
            </a:pPr>
            <a:r>
              <a:rPr sz="1875" b="1" i="0">
                <a:solidFill>
                  <a:srgbClr val="65B32E"/>
                </a:solidFill>
              </a:rPr>
              <a:t>npm test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60EE73-13FE-45AC-B431-2AF2B23CC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476750"/>
            <a:ext cx="12573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350" b="0" i="0">
                <a:solidFill>
                  <a:srgbClr val="596579"/>
                </a:solidFill>
              </a:defRPr>
            </a:pPr>
            <a:r>
              <a:rPr sz="1350" b="0" i="0">
                <a:solidFill>
                  <a:srgbClr val="596579"/>
                </a:solidFill>
              </a:rPr>
              <a:t>single command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9CAF90-3123-4E0D-9FFE-9C1541D54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000500"/>
            <a:ext cx="5905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0" b="1" i="0">
                <a:solidFill>
                  <a:srgbClr val="596579"/>
                </a:solidFill>
              </a:defRPr>
            </a:pPr>
            <a:r>
              <a:rPr sz="2850" b="1" i="0">
                <a:solidFill>
                  <a:srgbClr val="596579"/>
                </a:solidFill>
              </a:rPr>
              <a:t>-&gt;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88C0BD-7A05-4AF9-B249-2BFD1EC2A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600450"/>
            <a:ext cx="2095500" cy="895350"/>
          </a:xfrm>
          <a:prstGeom xmlns:a="http://schemas.openxmlformats.org/drawingml/2006/main" prst="roundRect">
            <a:avLst>
              <a:gd name="adj" fmla="val 25532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C35E60-6660-4030-A844-FC73F23B6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905250"/>
            <a:ext cx="1752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75" b="1" i="0">
                <a:solidFill>
                  <a:srgbClr val="2563EB"/>
                </a:solidFill>
              </a:defRPr>
            </a:pPr>
            <a:r>
              <a:rPr sz="1875" b="1" i="0">
                <a:solidFill>
                  <a:srgbClr val="2563EB"/>
                </a:solidFill>
              </a:rPr>
              <a:t>generate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AE6CF0-941B-485C-B491-0E6E388E6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591050"/>
            <a:ext cx="1638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350" b="0" i="0">
                <a:solidFill>
                  <a:srgbClr val="596579"/>
                </a:solidFill>
              </a:defRPr>
            </a:pPr>
            <a:r>
              <a:rPr sz="1350" b="0" i="0">
                <a:solidFill>
                  <a:srgbClr val="596579"/>
                </a:solidFill>
              </a:rPr>
              <a:t>routes + tests + edge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913944-5E24-46FC-8518-5505F3FC6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000500"/>
            <a:ext cx="5905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0" b="1" i="0">
                <a:solidFill>
                  <a:srgbClr val="596579"/>
                </a:solidFill>
              </a:defRPr>
            </a:pPr>
            <a:r>
              <a:rPr sz="2850" b="1" i="0">
                <a:solidFill>
                  <a:srgbClr val="596579"/>
                </a:solidFill>
              </a:rPr>
              <a:t>-&gt;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8562FC-7154-407A-B599-70865F3B6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00450"/>
            <a:ext cx="2095500" cy="895350"/>
          </a:xfrm>
          <a:prstGeom xmlns:a="http://schemas.openxmlformats.org/drawingml/2006/main" prst="roundRect">
            <a:avLst>
              <a:gd name="adj" fmla="val 25532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489D8E-2E4C-4E54-81FC-12314B190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905250"/>
            <a:ext cx="1752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75" b="1" i="0">
                <a:solidFill>
                  <a:srgbClr val="F97316"/>
                </a:solidFill>
              </a:defRPr>
            </a:pPr>
            <a:r>
              <a:rPr sz="1875" b="1" i="0">
                <a:solidFill>
                  <a:srgbClr val="F97316"/>
                </a:solidFill>
              </a:rPr>
              <a:t>webServer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5ADF3B-8E78-4A20-A3B6-0D00D83CD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591050"/>
            <a:ext cx="11049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350" b="0" i="0">
                <a:solidFill>
                  <a:srgbClr val="596579"/>
                </a:solidFill>
              </a:defRPr>
            </a:pPr>
            <a:r>
              <a:rPr sz="1350" b="0" i="0">
                <a:solidFill>
                  <a:srgbClr val="596579"/>
                </a:solidFill>
              </a:rPr>
              <a:t>starts Express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BCEFE2-B319-4CF8-B466-80B0A0A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4000500"/>
            <a:ext cx="5905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0" b="1" i="0">
                <a:solidFill>
                  <a:srgbClr val="596579"/>
                </a:solidFill>
              </a:defRPr>
            </a:pPr>
            <a:r>
              <a:rPr sz="2850" b="1" i="0">
                <a:solidFill>
                  <a:srgbClr val="596579"/>
                </a:solidFill>
              </a:rPr>
              <a:t>-&gt;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64081E-732C-40C9-92EC-59A6F1262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3486150"/>
            <a:ext cx="2286000" cy="895350"/>
          </a:xfrm>
          <a:prstGeom xmlns:a="http://schemas.openxmlformats.org/drawingml/2006/main" prst="roundRect">
            <a:avLst>
              <a:gd name="adj" fmla="val 25532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0E54BA-0E7D-4746-867E-3A0554E0E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7909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75" b="1" i="0">
                <a:solidFill>
                  <a:srgbClr val="2F7D32"/>
                </a:solidFill>
              </a:defRPr>
            </a:pPr>
            <a:r>
              <a:rPr sz="1875" b="1" i="0">
                <a:solidFill>
                  <a:srgbClr val="2F7D32"/>
                </a:solidFill>
              </a:rPr>
              <a:t>request fixture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23F0BF-21F7-4677-85F4-9A9F1E8BD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4476750"/>
            <a:ext cx="9525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350" b="0" i="0">
                <a:solidFill>
                  <a:srgbClr val="596579"/>
                </a:solidFill>
              </a:defRPr>
            </a:pPr>
            <a:r>
              <a:rPr sz="1350" b="0" i="0">
                <a:solidFill>
                  <a:srgbClr val="596579"/>
                </a:solidFill>
              </a:rPr>
              <a:t>calls the API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E4AE1F-61B9-4F76-AD68-59C202708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4000500"/>
            <a:ext cx="5905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0" b="1" i="0">
                <a:solidFill>
                  <a:srgbClr val="596579"/>
                </a:solidFill>
              </a:defRPr>
            </a:pPr>
            <a:r>
              <a:rPr sz="2850" b="1" i="0">
                <a:solidFill>
                  <a:srgbClr val="596579"/>
                </a:solidFill>
              </a:rPr>
              <a:t>-&gt;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5ADB09-44A9-408C-9986-BBE11FDBF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7950" y="3486150"/>
            <a:ext cx="2286000" cy="895350"/>
          </a:xfrm>
          <a:prstGeom xmlns:a="http://schemas.openxmlformats.org/drawingml/2006/main" prst="roundRect">
            <a:avLst>
              <a:gd name="adj" fmla="val 25532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5EBE6D-2DB1-4F4C-85BC-A3B0D1D2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49400" y="37909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75" b="1" i="0">
                <a:solidFill>
                  <a:srgbClr val="65B32E"/>
                </a:solidFill>
              </a:defRPr>
            </a:pPr>
            <a:r>
              <a:rPr sz="1875" b="1" i="0">
                <a:solidFill>
                  <a:srgbClr val="65B32E"/>
                </a:solidFill>
              </a:rPr>
              <a:t>assertions pass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A93586-7221-4B7B-ABE3-F08F76702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0" y="4476750"/>
            <a:ext cx="1104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350" b="0" i="0">
                <a:solidFill>
                  <a:srgbClr val="596579"/>
                </a:solidFill>
              </a:defRPr>
            </a:pPr>
            <a:r>
              <a:rPr sz="1350" b="0" i="0">
                <a:solidFill>
                  <a:srgbClr val="596579"/>
                </a:solidFill>
              </a:rPr>
              <a:t>contract holds</a:t>
            </a:r>
          </a:p>
        </p:txBody>
      </p:sp>
      <p:sp>
        <p:nvSpPr>
          <p:cNvPr id="23" name="code-block">
            <a:extLst xmlns:a="http://schemas.openxmlformats.org/drawingml/2006/main">
              <a:ext uri="{FF2B5EF4-FFF2-40B4-BE49-F238E27FC236}">
                <a16:creationId xmlns:a16="http://schemas.microsoft.com/office/drawing/2014/main" id="{C6869B58-8A0E-49DA-86A1-565A6F446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789420"/>
            <a:ext cx="16649700" cy="2480310"/>
          </a:xfrm>
          <a:prstGeom xmlns:a="http://schemas.openxmlformats.org/drawingml/2006/main" prst="roundRect">
            <a:avLst>
              <a:gd name="adj" fmla="val 7680"/>
            </a:avLst>
          </a:prstGeom>
          <a:solidFill xmlns:a="http://schemas.openxmlformats.org/drawingml/2006/main">
            <a:srgbClr val="111827"/>
          </a:solidFill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915C6A-8338-4765-81D7-619042E47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7010400"/>
            <a:ext cx="16116300" cy="2038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875" b="0" i="0">
                <a:solidFill>
                  <a:srgbClr val="D1E7FF"/>
                </a:solidFill>
              </a:defRPr>
            </a:pPr>
            <a:r>
              <a:rPr sz="1875" b="0" i="0">
                <a:solidFill>
                  <a:srgbClr val="D1E7FF"/>
                </a:solidFill>
              </a:rPr>
              <a:t>&gt; npm test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875" b="0" i="0">
                <a:solidFill>
                  <a:srgbClr val="D1E7FF"/>
                </a:solidFill>
              </a:defRPr>
            </a:pPr>
            <a:r>
              <a:rPr sz="1875" b="0" i="0">
                <a:solidFill>
                  <a:srgbClr val="D1E7FF"/>
                </a:solidFill>
              </a:rPr>
              <a:t>Generated 2 API routes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875" b="0" i="0">
                <a:solidFill>
                  <a:srgbClr val="D1E7FF"/>
                </a:solidFill>
              </a:defRPr>
            </a:pPr>
            <a:r>
              <a:rPr sz="1875" b="0" i="0">
                <a:solidFill>
                  <a:srgbClr val="D1E7FF"/>
                </a:solidFill>
              </a:rPr>
              <a:t>Generated 2 Playwright API tests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875" b="0" i="0">
                <a:solidFill>
                  <a:srgbClr val="D1E7FF"/>
                </a:solidFill>
              </a:defRPr>
            </a:pPr>
            <a:r>
              <a:rPr sz="1875" b="0" i="0">
                <a:solidFill>
                  <a:srgbClr val="D1E7FF"/>
                </a:solidFill>
              </a:rPr>
              <a:t>Generated 1 Playwright edge test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875" b="0" i="0">
                <a:solidFill>
                  <a:srgbClr val="D1E7FF"/>
                </a:solidFill>
              </a:defRPr>
            </a:pPr>
            <a:r>
              <a:rPr sz="1875" b="0" i="0">
                <a:solidFill>
                  <a:srgbClr val="D1E7FF"/>
                </a:solidFill>
              </a:rPr>
              <a:t>API server listening at http://127.0.0.1:3774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875" b="0" i="0">
                <a:solidFill>
                  <a:srgbClr val="D1E7FF"/>
                </a:solidFill>
              </a:defRPr>
            </a:pPr>
            <a:r>
              <a:rPr sz="1875" b="0" i="0">
                <a:solidFill>
                  <a:srgbClr val="D1E7FF"/>
                </a:solidFill>
              </a:rPr>
              <a:t>3 passed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778F89-958B-43D0-A12F-83D8A9603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601200"/>
            <a:ext cx="166497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50" b="0" i="0">
                <a:solidFill>
                  <a:srgbClr val="8B7D68"/>
                </a:solidFill>
              </a:defRPr>
            </a:pPr>
            <a:r>
              <a:rPr sz="1050" b="0" i="0">
                <a:solidFill>
                  <a:srgbClr val="8B7D68"/>
                </a:solidFill>
              </a:rPr>
              <a:t>Playwright webServer handles local startup, so learners do not need a second terminal.</a:t>
            </a:r>
          </a:p>
        </p:txBody>
      </p:sp>
    </p:spTree>
    <p:extLst>
      <p:ext uri="{BB962C8B-B14F-4D97-AF65-F5344CB8AC3E}">
        <p14:creationId xmlns:p14="http://schemas.microsoft.com/office/powerpoint/2010/main" val="173408972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g">
            <a:extLst xmlns:a="http://schemas.openxmlformats.org/drawingml/2006/main">
              <a:ext uri="{FF2B5EF4-FFF2-40B4-BE49-F238E27FC236}">
                <a16:creationId xmlns:a16="http://schemas.microsoft.com/office/drawing/2014/main" id="{358D8D61-F5EC-4D3D-BE2D-CC0EB1B86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BA04D1B-CAC5-421B-9E3D-8B686BC4C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"/>
            <a:ext cx="48768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8000"/>
              </a:lnSpc>
              <a:buNone/>
              <a:defRPr sz="4200" b="1" i="0">
                <a:solidFill>
                  <a:srgbClr val="172033"/>
                </a:solidFill>
              </a:defRPr>
            </a:pPr>
            <a:r>
              <a:rPr sz="4200" b="1" i="0">
                <a:solidFill>
                  <a:srgbClr val="172033"/>
                </a:solidFill>
              </a:rPr>
              <a:t>Provided API mode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0988C02-37C2-4C67-A1D4-BC17B2FD1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314450"/>
            <a:ext cx="80010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75" b="0" i="0">
                <a:solidFill>
                  <a:srgbClr val="596579"/>
                </a:solidFill>
              </a:defRPr>
            </a:pPr>
            <a:r>
              <a:rPr sz="1875" b="0" i="0">
                <a:solidFill>
                  <a:srgbClr val="596579"/>
                </a:solidFill>
              </a:rPr>
              <a:t>BASE_URL switches generated tests from demo mode to target-API mode.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0AD23C-81C2-4366-B138-75C310E58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80772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00" b="1" i="0">
                <a:solidFill>
                  <a:srgbClr val="2F7D32"/>
                </a:solidFill>
              </a:defRPr>
            </a:pPr>
            <a:r>
              <a:rPr sz="2700" b="1" i="0">
                <a:solidFill>
                  <a:srgbClr val="2F7D32"/>
                </a:solidFill>
              </a:rPr>
              <a:t>1. Generate from any spec</a:t>
            </a:r>
          </a:p>
        </p:txBody>
      </p:sp>
      <p:sp>
        <p:nvSpPr>
          <p:cNvPr id="5" name="code-block">
            <a:extLst xmlns:a="http://schemas.openxmlformats.org/drawingml/2006/main">
              <a:ext uri="{FF2B5EF4-FFF2-40B4-BE49-F238E27FC236}">
                <a16:creationId xmlns:a16="http://schemas.microsoft.com/office/drawing/2014/main" id="{245C5462-8FFC-40CB-9A03-D64067C4C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23626"/>
            <a:ext cx="8067675" cy="2156612"/>
          </a:xfrm>
          <a:prstGeom xmlns:a="http://schemas.openxmlformats.org/drawingml/2006/main" prst="roundRect">
            <a:avLst>
              <a:gd name="adj" fmla="val 8833"/>
            </a:avLst>
          </a:prstGeom>
          <a:solidFill xmlns:a="http://schemas.openxmlformats.org/drawingml/2006/main">
            <a:srgbClr val="111827"/>
          </a:solid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EF5151-3A1C-41E0-83FD-38E07D65D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857750"/>
            <a:ext cx="7543800" cy="1714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350" b="0" i="0">
                <a:solidFill>
                  <a:srgbClr val="D1E7FF"/>
                </a:solidFill>
              </a:defRPr>
            </a:pPr>
            <a:r>
              <a:rPr sz="1350" b="0" i="0">
                <a:solidFill>
                  <a:srgbClr val="D1E7FF"/>
                </a:solidFill>
              </a:rPr>
              <a:t>npm run generate:from-spec -- \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350" b="0" i="0">
                <a:solidFill>
                  <a:srgbClr val="D1E7FF"/>
                </a:solidFill>
              </a:defRPr>
            </a:pPr>
            <a:r>
              <a:rPr sz="1350" b="0" i="0">
                <a:solidFill>
                  <a:srgbClr val="D1E7FF"/>
                </a:solidFill>
              </a:rPr>
              <a:t>  --spec ./path/to/openapi.yaml \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350" b="0" i="0">
                <a:solidFill>
                  <a:srgbClr val="D1E7FF"/>
                </a:solidFill>
              </a:defRPr>
            </a:pPr>
            <a:r>
              <a:rPr sz="1350" b="0" i="0">
                <a:solidFill>
                  <a:srgbClr val="D1E7FF"/>
                </a:solidFill>
              </a:rPr>
              <a:t>  --output tests/generated/openapi.spec.ts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350" b="0" i="0">
                <a:solidFill>
                  <a:srgbClr val="D1E7FF"/>
                </a:solidFill>
              </a:defRPr>
            </a:pPr>
            <a:r>
              <a:rPr sz="1350" b="0" i="0">
                <a:solidFill>
                  <a:srgbClr val="D1E7FF"/>
                </a:solidFill>
              </a:rPr>
              <a:t>npm run generate:edge-from-spec -- \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350" b="0" i="0">
                <a:solidFill>
                  <a:srgbClr val="D1E7FF"/>
                </a:solidFill>
              </a:defRPr>
            </a:pPr>
            <a:r>
              <a:rPr sz="1350" b="0" i="0">
                <a:solidFill>
                  <a:srgbClr val="D1E7FF"/>
                </a:solidFill>
              </a:rPr>
              <a:t>  --spec ./path/to/openapi.yaml \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350" b="0" i="0">
                <a:solidFill>
                  <a:srgbClr val="D1E7FF"/>
                </a:solidFill>
              </a:defRPr>
            </a:pPr>
            <a:r>
              <a:rPr sz="1350" b="0" i="0">
                <a:solidFill>
                  <a:srgbClr val="D1E7FF"/>
                </a:solidFill>
              </a:rPr>
              <a:t>  --output tests/generated/openapi.edge.spec.ts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57465C-101A-4445-A702-9CF335AF5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991350"/>
            <a:ext cx="6477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75" b="0" i="0">
                <a:solidFill>
                  <a:srgbClr val="596579"/>
                </a:solidFill>
              </a:defRPr>
            </a:pPr>
            <a:r>
              <a:rPr sz="1875" b="0" i="0">
                <a:solidFill>
                  <a:srgbClr val="596579"/>
                </a:solidFill>
              </a:rPr>
              <a:t>The input can be a local YAML/JSON file or an HTTP(S) URL.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FC21E1-4364-4523-A89E-6447C1B8E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533900"/>
            <a:ext cx="80772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00" b="1" i="0">
                <a:solidFill>
                  <a:srgbClr val="2563EB"/>
                </a:solidFill>
              </a:defRPr>
            </a:pPr>
            <a:r>
              <a:rPr sz="2700" b="1" i="0">
                <a:solidFill>
                  <a:srgbClr val="2563EB"/>
                </a:solidFill>
              </a:rPr>
              <a:t>2. Run against the target</a:t>
            </a:r>
          </a:p>
        </p:txBody>
      </p:sp>
      <p:sp>
        <p:nvSpPr>
          <p:cNvPr id="9" name="code-block">
            <a:extLst xmlns:a="http://schemas.openxmlformats.org/drawingml/2006/main">
              <a:ext uri="{FF2B5EF4-FFF2-40B4-BE49-F238E27FC236}">
                <a16:creationId xmlns:a16="http://schemas.microsoft.com/office/drawing/2014/main" id="{2A44610B-09D1-44E7-8284-80432DE99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5147577"/>
            <a:ext cx="8067675" cy="1131570"/>
          </a:xfrm>
          <a:prstGeom xmlns:a="http://schemas.openxmlformats.org/drawingml/2006/main" prst="roundRect">
            <a:avLst>
              <a:gd name="adj" fmla="val 16835"/>
            </a:avLst>
          </a:prstGeom>
          <a:solidFill xmlns:a="http://schemas.openxmlformats.org/drawingml/2006/main">
            <a:srgbClr val="111827"/>
          </a:solidFill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D01BDA-2FD7-4E3F-9F21-7FC5016D2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372100"/>
            <a:ext cx="75438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875" b="0" i="0">
                <a:solidFill>
                  <a:srgbClr val="D1E7FF"/>
                </a:solidFill>
              </a:defRPr>
            </a:pPr>
            <a:r>
              <a:rPr sz="1875" b="0" i="0">
                <a:solidFill>
                  <a:srgbClr val="D1E7FF"/>
                </a:solidFill>
              </a:rPr>
              <a:t>BASE_URL=https://api.example.com \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875" b="0" i="0">
                <a:solidFill>
                  <a:srgbClr val="D1E7FF"/>
                </a:solidFill>
              </a:defRPr>
            </a:pPr>
            <a:r>
              <a:rPr sz="1875" b="0" i="0">
                <a:solidFill>
                  <a:srgbClr val="D1E7FF"/>
                </a:solidFill>
              </a:rPr>
              <a:t>  npm run test:generated</a:t>
            </a:r>
          </a:p>
        </p:txBody>
      </p:sp>
      <p:sp>
        <p:nvSpPr>
          <p:cNvPr id="11" name="pill-BASE_URL set">
            <a:extLst xmlns:a="http://schemas.openxmlformats.org/drawingml/2006/main">
              <a:ext uri="{FF2B5EF4-FFF2-40B4-BE49-F238E27FC236}">
                <a16:creationId xmlns:a16="http://schemas.microsoft.com/office/drawing/2014/main" id="{03A9AE33-C58D-4284-B674-61BE80730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6515100"/>
            <a:ext cx="23812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A8AB3C-D6DF-4F62-AF4D-BF738E22D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6667500"/>
            <a:ext cx="2057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BASE_URL set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A88923-A802-453B-85E6-CC546D78A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25300" y="6496050"/>
            <a:ext cx="37338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 i="0">
                <a:solidFill>
                  <a:srgbClr val="596579"/>
                </a:solidFill>
              </a:defRPr>
            </a:pPr>
            <a:r>
              <a:rPr sz="1800" b="0" i="0">
                <a:solidFill>
                  <a:srgbClr val="596579"/>
                </a:solidFill>
              </a:rPr>
              <a:t>Playwright skips local server startup.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CFDFBF-0282-43C9-B625-4A2E6F972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601200"/>
            <a:ext cx="166497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50" b="0" i="0">
                <a:solidFill>
                  <a:srgbClr val="8B7D68"/>
                </a:solidFill>
              </a:defRPr>
            </a:pPr>
            <a:r>
              <a:rPr sz="1050" b="0" i="0">
                <a:solidFill>
                  <a:srgbClr val="8B7D68"/>
                </a:solidFill>
              </a:rPr>
              <a:t>Spec-driven API test automation learning project</a:t>
            </a:r>
          </a:p>
        </p:txBody>
      </p:sp>
    </p:spTree>
    <p:extLst>
      <p:ext uri="{BB962C8B-B14F-4D97-AF65-F5344CB8AC3E}">
        <p14:creationId xmlns:p14="http://schemas.microsoft.com/office/powerpoint/2010/main" val="89283115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g">
            <a:extLst xmlns:a="http://schemas.openxmlformats.org/drawingml/2006/main">
              <a:ext uri="{FF2B5EF4-FFF2-40B4-BE49-F238E27FC236}">
                <a16:creationId xmlns:a16="http://schemas.microsoft.com/office/drawing/2014/main" id="{BF0C364C-D1AB-4DD8-9B9F-E80E09E2C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F51DF18-E8ED-4E48-9617-BFCE3624E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"/>
            <a:ext cx="767715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8000"/>
              </a:lnSpc>
              <a:buNone/>
              <a:defRPr sz="4200" b="1" i="0">
                <a:solidFill>
                  <a:srgbClr val="172033"/>
                </a:solidFill>
              </a:defRPr>
            </a:pPr>
            <a:r>
              <a:rPr sz="4200" b="1" i="0">
                <a:solidFill>
                  <a:srgbClr val="172033"/>
                </a:solidFill>
              </a:rPr>
              <a:t>Limits and next improvements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72948699-7DB8-4117-B832-112B27884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43100"/>
            <a:ext cx="81343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875" b="0" i="0">
                <a:solidFill>
                  <a:srgbClr val="596579"/>
                </a:solidFill>
              </a:defRPr>
            </a:pPr>
            <a:r>
              <a:rPr sz="1875" b="0" i="0">
                <a:solidFill>
                  <a:srgbClr val="596579"/>
                </a:solidFill>
              </a:rPr>
              <a:t>The current generator is intentionally teachable. The next upgrades are clear.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8B39E4-0BD5-42F9-8E57-D4B7E6444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81400"/>
            <a:ext cx="80391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50" b="1" i="0">
                <a:solidFill>
                  <a:srgbClr val="F97316"/>
                </a:solidFill>
              </a:defRPr>
            </a:pPr>
            <a:r>
              <a:rPr sz="3150" b="1" i="0">
                <a:solidFill>
                  <a:srgbClr val="F97316"/>
                </a:solidFill>
              </a:rPr>
              <a:t>Current limits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C444D4-BACC-4191-B14E-A08484B1B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57700"/>
            <a:ext cx="8001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400" b="1" i="0">
                <a:solidFill>
                  <a:srgbClr val="F97316"/>
                </a:solidFill>
              </a:defRPr>
            </a:pPr>
            <a:r>
              <a:rPr sz="5400" b="1" i="0">
                <a:solidFill>
                  <a:srgbClr val="F97316"/>
                </a:solidFill>
              </a:rPr>
              <a:t>L1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32355C-60E8-4CAC-AC48-ABB6C0D0C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362450"/>
            <a:ext cx="6991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0" b="1" i="0">
                <a:solidFill>
                  <a:srgbClr val="172033"/>
                </a:solidFill>
              </a:defRPr>
            </a:pPr>
            <a:r>
              <a:rPr sz="2550" b="1" i="0">
                <a:solidFill>
                  <a:srgbClr val="172033"/>
                </a:solidFill>
              </a:rPr>
              <a:t>$ref and composed schemas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090AA6-A547-4006-9071-4687BDCA6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819650"/>
            <a:ext cx="44005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6000"/>
              </a:lnSpc>
              <a:buNone/>
              <a:defRPr sz="1800" b="0" i="0">
                <a:solidFill>
                  <a:srgbClr val="596579"/>
                </a:solidFill>
              </a:defRPr>
            </a:pPr>
            <a:r>
              <a:rPr sz="1800" b="0" i="0">
                <a:solidFill>
                  <a:srgbClr val="596579"/>
                </a:solidFill>
              </a:rPr>
              <a:t>Only simple inline cases are handled today.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A7251D-9584-44FF-897B-7E069A32C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67400"/>
            <a:ext cx="8001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400" b="1" i="0">
                <a:solidFill>
                  <a:srgbClr val="F97316"/>
                </a:solidFill>
              </a:defRPr>
            </a:pPr>
            <a:r>
              <a:rPr sz="5400" b="1" i="0">
                <a:solidFill>
                  <a:srgbClr val="F97316"/>
                </a:solidFill>
              </a:rPr>
              <a:t>L2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86A0A1-C01B-471F-9B90-1430DA06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772150"/>
            <a:ext cx="6991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0" b="1" i="0">
                <a:solidFill>
                  <a:srgbClr val="172033"/>
                </a:solidFill>
              </a:defRPr>
            </a:pPr>
            <a:r>
              <a:rPr sz="2550" b="1" i="0">
                <a:solidFill>
                  <a:srgbClr val="172033"/>
                </a:solidFill>
              </a:rPr>
              <a:t>Schema-only responses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DB38B9-A95D-4F14-82AC-3C1DD17E7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6229350"/>
            <a:ext cx="39243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6000"/>
              </a:lnSpc>
              <a:buNone/>
              <a:defRPr sz="1800" b="0" i="0">
                <a:solidFill>
                  <a:srgbClr val="596579"/>
                </a:solidFill>
              </a:defRPr>
            </a:pPr>
            <a:r>
              <a:rPr sz="1800" b="0" i="0">
                <a:solidFill>
                  <a:srgbClr val="596579"/>
                </a:solidFill>
              </a:rPr>
              <a:t>Produce status-only happy-path tests.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065421-2A27-40A8-A2E3-1629D09B4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277100"/>
            <a:ext cx="8001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400" b="1" i="0">
                <a:solidFill>
                  <a:srgbClr val="F97316"/>
                </a:solidFill>
              </a:defRPr>
            </a:pPr>
            <a:r>
              <a:rPr sz="5400" b="1" i="0">
                <a:solidFill>
                  <a:srgbClr val="F97316"/>
                </a:solidFill>
              </a:rPr>
              <a:t>L3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7CA0C1-938C-491A-B3E0-329BB8DC2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315200"/>
            <a:ext cx="6991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0" b="1" i="0">
                <a:solidFill>
                  <a:srgbClr val="172033"/>
                </a:solidFill>
              </a:defRPr>
            </a:pPr>
            <a:r>
              <a:rPr sz="2550" b="1" i="0">
                <a:solidFill>
                  <a:srgbClr val="172033"/>
                </a:solidFill>
              </a:rPr>
              <a:t>Validation required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6FD17F-2351-4956-879A-E8336282B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791450"/>
            <a:ext cx="60198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6000"/>
              </a:lnSpc>
              <a:buNone/>
              <a:defRPr sz="1800" b="0" i="0">
                <a:solidFill>
                  <a:srgbClr val="596579"/>
                </a:solidFill>
              </a:defRPr>
            </a:pPr>
            <a:r>
              <a:rPr sz="1800" b="0" i="0">
                <a:solidFill>
                  <a:srgbClr val="596579"/>
                </a:solidFill>
              </a:rPr>
              <a:t>Edge tests pass when the target API enforces the contract.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ED2C44-CD5C-4CE2-B28A-775FDED6C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057650"/>
            <a:ext cx="80391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50" b="1" i="0">
                <a:solidFill>
                  <a:srgbClr val="2F7D32"/>
                </a:solidFill>
              </a:defRPr>
            </a:pPr>
            <a:r>
              <a:rPr sz="3150" b="1" i="0">
                <a:solidFill>
                  <a:srgbClr val="2F7D32"/>
                </a:solidFill>
              </a:rPr>
              <a:t>Upgrade path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07DD79-17DB-4D84-A6FD-B0ED541A2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762500"/>
            <a:ext cx="1714500" cy="895350"/>
          </a:xfrm>
          <a:prstGeom xmlns:a="http://schemas.openxmlformats.org/drawingml/2006/main" prst="roundRect">
            <a:avLst>
              <a:gd name="adj" fmla="val 25532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473EC4-B508-4D5D-96E6-EC5152EC5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5067300"/>
            <a:ext cx="1371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75" b="1" i="0">
                <a:solidFill>
                  <a:srgbClr val="65B32E"/>
                </a:solidFill>
              </a:defRPr>
            </a:pPr>
            <a:r>
              <a:rPr sz="1875" b="1" i="0">
                <a:solidFill>
                  <a:srgbClr val="65B32E"/>
                </a:solidFill>
              </a:rPr>
              <a:t>Edit spec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1099AF-3D5C-42CF-AE57-F0A994710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5753100"/>
            <a:ext cx="16383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350" b="0" i="0">
                <a:solidFill>
                  <a:srgbClr val="596579"/>
                </a:solidFill>
              </a:defRPr>
            </a:pPr>
            <a:r>
              <a:rPr sz="1350" b="0" i="0">
                <a:solidFill>
                  <a:srgbClr val="596579"/>
                </a:solidFill>
              </a:rPr>
              <a:t>examples + schemas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6326B1-DBA2-4DFB-8944-A4D8D052E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5276850"/>
            <a:ext cx="5905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0" b="1" i="0">
                <a:solidFill>
                  <a:srgbClr val="596579"/>
                </a:solidFill>
              </a:defRPr>
            </a:pPr>
            <a:r>
              <a:rPr sz="2850" b="1" i="0">
                <a:solidFill>
                  <a:srgbClr val="596579"/>
                </a:solidFill>
              </a:rPr>
              <a:t>-&gt;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30B298-B3FA-4CD7-AE26-105D835C0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63400" y="4876800"/>
            <a:ext cx="1714500" cy="895350"/>
          </a:xfrm>
          <a:prstGeom xmlns:a="http://schemas.openxmlformats.org/drawingml/2006/main" prst="roundRect">
            <a:avLst>
              <a:gd name="adj" fmla="val 25532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B2AE9C-40A9-4E2C-85F8-97EC2436D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34850" y="5181600"/>
            <a:ext cx="1371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75" b="1" i="0">
                <a:solidFill>
                  <a:srgbClr val="2563EB"/>
                </a:solidFill>
              </a:defRPr>
            </a:pPr>
            <a:r>
              <a:rPr sz="1875" b="1" i="0">
                <a:solidFill>
                  <a:srgbClr val="2563EB"/>
                </a:solidFill>
              </a:rPr>
              <a:t>Generate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7B5D99-0B45-444F-8263-F802AAA5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0" y="5867400"/>
            <a:ext cx="952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350" b="0" i="0">
                <a:solidFill>
                  <a:srgbClr val="596579"/>
                </a:solidFill>
              </a:defRPr>
            </a:pPr>
            <a:r>
              <a:rPr sz="1350" b="0" i="0">
                <a:solidFill>
                  <a:srgbClr val="596579"/>
                </a:solidFill>
              </a:rPr>
              <a:t>tests refresh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3A578E-E25A-4353-902C-10C413C6C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2200" y="5276850"/>
            <a:ext cx="5905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0" b="1" i="0">
                <a:solidFill>
                  <a:srgbClr val="596579"/>
                </a:solidFill>
              </a:defRPr>
            </a:pPr>
            <a:r>
              <a:rPr sz="2850" b="1" i="0">
                <a:solidFill>
                  <a:srgbClr val="596579"/>
                </a:solidFill>
              </a:rPr>
              <a:t>-&gt;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7A609D-F929-4C0F-AD99-11A902243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97050" y="4876800"/>
            <a:ext cx="1714500" cy="895350"/>
          </a:xfrm>
          <a:prstGeom xmlns:a="http://schemas.openxmlformats.org/drawingml/2006/main" prst="roundRect">
            <a:avLst>
              <a:gd name="adj" fmla="val 25532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A8AD81-19FE-4815-A78B-AB4BC2E02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0" y="5181600"/>
            <a:ext cx="1371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75" b="1" i="0">
                <a:solidFill>
                  <a:srgbClr val="2F7D32"/>
                </a:solidFill>
              </a:defRPr>
            </a:pPr>
            <a:r>
              <a:rPr sz="1875" b="1" i="0">
                <a:solidFill>
                  <a:srgbClr val="2F7D32"/>
                </a:solidFill>
              </a:rPr>
              <a:t>Run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FACDFB-87AD-456F-A676-3363BDD20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44700" y="5867400"/>
            <a:ext cx="1219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350" b="0" i="0">
                <a:solidFill>
                  <a:srgbClr val="596579"/>
                </a:solidFill>
              </a:defRPr>
            </a:pPr>
            <a:r>
              <a:rPr sz="1350" b="0" i="0">
                <a:solidFill>
                  <a:srgbClr val="596579"/>
                </a:solidFill>
              </a:rPr>
              <a:t>contract checks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B7F3D2D-ACCF-4CB4-95CD-92A5B2C51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6438900"/>
            <a:ext cx="590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AB7"/>
          </a:solidFill>
          <a:ln xmlns:a="http://schemas.openxmlformats.org/drawingml/2006/main" w="0">
            <a:solidFill>
              <a:srgbClr val="D6CAB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3B6C0C-DA40-4F3C-912E-8CDF78BBA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6686550"/>
            <a:ext cx="6648450" cy="1123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2175" b="0" i="0">
                <a:solidFill>
                  <a:srgbClr val="172033"/>
                </a:solidFill>
              </a:defRPr>
            </a:pPr>
            <a:r>
              <a:rPr sz="2175" b="0" i="0">
                <a:solidFill>
                  <a:srgbClr val="172033"/>
                </a:solidFill>
              </a:rPr>
              <a:t>Next: deeper schema validation, auth profiles, multi-example generation, boundary matrices, and CI.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7646B84-0B42-4E06-966F-C2D4BEADD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601200"/>
            <a:ext cx="166497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50" b="0" i="0">
                <a:solidFill>
                  <a:srgbClr val="8B7D68"/>
                </a:solidFill>
              </a:defRPr>
            </a:pPr>
            <a:r>
              <a:rPr sz="1050" b="0" i="0">
                <a:solidFill>
                  <a:srgbClr val="8B7D68"/>
                </a:solidFill>
              </a:rPr>
              <a:t>Close the loop: spec changes should regenerate executable evidence.</a:t>
            </a:r>
          </a:p>
        </p:txBody>
      </p:sp>
    </p:spTree>
    <p:extLst>
      <p:ext uri="{BB962C8B-B14F-4D97-AF65-F5344CB8AC3E}">
        <p14:creationId xmlns:p14="http://schemas.microsoft.com/office/powerpoint/2010/main" val="162148429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g">
            <a:extLst xmlns:a="http://schemas.openxmlformats.org/drawingml/2006/main">
              <a:ext uri="{FF2B5EF4-FFF2-40B4-BE49-F238E27FC236}">
                <a16:creationId xmlns:a16="http://schemas.microsoft.com/office/drawing/2014/main" id="{5BF3172C-AF6E-49E1-B797-81721F00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</p:spPr>
      </p:sp>
      <p:sp>
        <p:nvSpPr>
          <p:cNvPr id="2" name="homework-title">
            <a:extLst xmlns:a="http://schemas.openxmlformats.org/drawingml/2006/main">
              <a:ext uri="{FF2B5EF4-FFF2-40B4-BE49-F238E27FC236}">
                <a16:creationId xmlns:a16="http://schemas.microsoft.com/office/drawing/2014/main" id="{31A6F9A4-FEFB-41FE-8B6D-38BD4AB05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"/>
            <a:ext cx="78105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4000"/>
              </a:lnSpc>
              <a:buNone/>
              <a:defRPr sz="5400" b="1" i="0">
                <a:solidFill>
                  <a:srgbClr val="172033"/>
                </a:solidFill>
              </a:defRPr>
            </a:pPr>
            <a:r>
              <a:rPr sz="5400" b="1" i="0">
                <a:solidFill>
                  <a:srgbClr val="172033"/>
                </a:solidFill>
              </a:rPr>
              <a:t>Homework</a:t>
            </a:r>
          </a:p>
        </p:txBody>
      </p:sp>
      <p:sp>
        <p:nvSpPr>
          <p:cNvPr id="3" name="homework-subtitle">
            <a:extLst xmlns:a="http://schemas.openxmlformats.org/drawingml/2006/main">
              <a:ext uri="{FF2B5EF4-FFF2-40B4-BE49-F238E27FC236}">
                <a16:creationId xmlns:a16="http://schemas.microsoft.com/office/drawing/2014/main" id="{BE46468E-A1CB-4FD8-93CE-8B9D5CFF9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66850"/>
            <a:ext cx="84582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2175" b="0" i="0">
                <a:solidFill>
                  <a:srgbClr val="596579"/>
                </a:solidFill>
              </a:defRPr>
            </a:pPr>
            <a:r>
              <a:rPr sz="2175" b="0" i="0">
                <a:solidFill>
                  <a:srgbClr val="596579"/>
                </a:solidFill>
              </a:rPr>
              <a:t>Explore public test APIs: read docs, write Playwright tests, run them.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E69418-308E-4188-87F0-DE5C7D391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266950"/>
            <a:ext cx="2286000" cy="895350"/>
          </a:xfrm>
          <a:prstGeom xmlns:a="http://schemas.openxmlformats.org/drawingml/2006/main" prst="roundRect">
            <a:avLst>
              <a:gd name="adj" fmla="val 25532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147F6D-EFE8-4B54-8889-F1ACCE0D1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5717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75" b="1" i="0">
                <a:solidFill>
                  <a:srgbClr val="65B32E"/>
                </a:solidFill>
              </a:defRPr>
            </a:pPr>
            <a:r>
              <a:rPr sz="1875" b="1" i="0">
                <a:solidFill>
                  <a:srgbClr val="65B32E"/>
                </a:solidFill>
              </a:rPr>
              <a:t>Read docs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33835D-621A-4708-93EA-977B8D044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257550"/>
            <a:ext cx="1676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350" b="0" i="0">
                <a:solidFill>
                  <a:srgbClr val="596579"/>
                </a:solidFill>
              </a:defRPr>
            </a:pPr>
            <a:r>
              <a:rPr sz="1350" b="0" i="0">
                <a:solidFill>
                  <a:srgbClr val="596579"/>
                </a:solidFill>
              </a:rPr>
              <a:t>understand endpoints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7DD333-2A32-471F-8858-257573FA0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667000"/>
            <a:ext cx="5905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0" b="1" i="0">
                <a:solidFill>
                  <a:srgbClr val="596579"/>
                </a:solidFill>
              </a:defRPr>
            </a:pPr>
            <a:r>
              <a:rPr sz="2850" b="1" i="0">
                <a:solidFill>
                  <a:srgbClr val="596579"/>
                </a:solidFill>
              </a:rPr>
              <a:t>-&gt;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4B9E74-80B1-4A7F-899D-1277517F5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52650"/>
            <a:ext cx="2286000" cy="895350"/>
          </a:xfrm>
          <a:prstGeom xmlns:a="http://schemas.openxmlformats.org/drawingml/2006/main" prst="roundRect">
            <a:avLst>
              <a:gd name="adj" fmla="val 25532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4F73B8-19F3-43CC-A32A-EFB1D8D67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574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75" b="1" i="0">
                <a:solidFill>
                  <a:srgbClr val="2563EB"/>
                </a:solidFill>
              </a:defRPr>
            </a:pPr>
            <a:r>
              <a:rPr sz="1875" b="1" i="0">
                <a:solidFill>
                  <a:srgbClr val="2563EB"/>
                </a:solidFill>
              </a:rPr>
              <a:t>Write tests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281237-7346-4EFE-9CB5-406E8EC33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143250"/>
            <a:ext cx="14097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350" b="0" i="0">
                <a:solidFill>
                  <a:srgbClr val="596579"/>
                </a:solidFill>
              </a:defRPr>
            </a:pPr>
            <a:r>
              <a:rPr sz="1350" b="0" i="0">
                <a:solidFill>
                  <a:srgbClr val="596579"/>
                </a:solidFill>
              </a:rPr>
              <a:t>use request fixture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9A01A8-7F87-496D-9034-1B8A189AC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2667000"/>
            <a:ext cx="5905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0" b="1" i="0">
                <a:solidFill>
                  <a:srgbClr val="596579"/>
                </a:solidFill>
              </a:defRPr>
            </a:pPr>
            <a:r>
              <a:rPr sz="2850" b="1" i="0">
                <a:solidFill>
                  <a:srgbClr val="596579"/>
                </a:solidFill>
              </a:rPr>
              <a:t>-&gt;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45EFFF-AF3F-496A-A0DF-361F1553B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266950"/>
            <a:ext cx="2286000" cy="895350"/>
          </a:xfrm>
          <a:prstGeom xmlns:a="http://schemas.openxmlformats.org/drawingml/2006/main" prst="roundRect">
            <a:avLst>
              <a:gd name="adj" fmla="val 25532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ADB6A0-7764-4AEF-8A0F-4A0CE5114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25717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75" b="1" i="0">
                <a:solidFill>
                  <a:srgbClr val="F97316"/>
                </a:solidFill>
              </a:defRPr>
            </a:pPr>
            <a:r>
              <a:rPr sz="1875" b="1" i="0">
                <a:solidFill>
                  <a:srgbClr val="F97316"/>
                </a:solidFill>
              </a:rPr>
              <a:t>Run tests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67DC52-A356-4620-8B2D-B5DFF5EDA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58600" y="3257550"/>
            <a:ext cx="1257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350" b="0" i="0">
                <a:solidFill>
                  <a:srgbClr val="596579"/>
                </a:solidFill>
              </a:defRPr>
            </a:pPr>
            <a:r>
              <a:rPr sz="1350" b="0" i="0">
                <a:solidFill>
                  <a:srgbClr val="596579"/>
                </a:solidFill>
              </a:rPr>
              <a:t>inspect behavior</a:t>
            </a:r>
          </a:p>
        </p:txBody>
      </p:sp>
      <p:sp>
        <p:nvSpPr>
          <p:cNvPr id="15" name="homework-Swagger Petstore">
            <a:extLst xmlns:a="http://schemas.openxmlformats.org/drawingml/2006/main">
              <a:ext uri="{FF2B5EF4-FFF2-40B4-BE49-F238E27FC236}">
                <a16:creationId xmlns:a16="http://schemas.microsoft.com/office/drawing/2014/main" id="{68B02282-3E0F-4683-B18A-50B218B75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21557"/>
            <a:ext cx="5384800" cy="3429000"/>
          </a:xfrm>
          <a:prstGeom xmlns:a="http://schemas.openxmlformats.org/drawingml/2006/main" prst="roundRect">
            <a:avLst>
              <a:gd name="adj" fmla="val 7222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DDB083-90D8-4115-B2BA-D19EFD264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71950"/>
            <a:ext cx="4857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25" b="1" i="0">
                <a:solidFill>
                  <a:srgbClr val="2F7D32"/>
                </a:solidFill>
              </a:defRPr>
            </a:pPr>
            <a:r>
              <a:rPr sz="2325" b="1" i="0">
                <a:solidFill>
                  <a:srgbClr val="2F7D32"/>
                </a:solidFill>
              </a:rPr>
              <a:t>Swagger Petstore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4E1A46-1D58-4B2C-8D07-CA204FB9F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648200"/>
            <a:ext cx="4857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75" b="0" i="0">
                <a:solidFill>
                  <a:srgbClr val="596579"/>
                </a:solidFill>
              </a:defRPr>
            </a:pPr>
            <a:r>
              <a:rPr sz="1275" b="0" i="0">
                <a:solidFill>
                  <a:srgbClr val="596579"/>
                </a:solidFill>
              </a:rPr>
              <a:t>petstore.swagger.io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DFBE04-7DC5-422E-8777-DD5683CD5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991100"/>
            <a:ext cx="485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AB7"/>
          </a:solidFill>
          <a:ln xmlns:a="http://schemas.openxmlformats.org/drawingml/2006/main" w="0">
            <a:solidFill>
              <a:srgbClr val="D6CAB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87026F-F055-42A8-8150-812F250A9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43500"/>
            <a:ext cx="48577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 b="1" i="0">
                <a:solidFill>
                  <a:srgbClr val="172033"/>
                </a:solidFill>
              </a:defRPr>
            </a:pPr>
            <a:r>
              <a:rPr sz="1650" b="1" i="0">
                <a:solidFill>
                  <a:srgbClr val="172033"/>
                </a:solidFill>
              </a:rPr>
              <a:t>Best for: OpenAPI basics and tooling compatibility.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E797F5-E4A3-4B38-81AA-65A2E9FBF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810250"/>
            <a:ext cx="4857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650" b="0" i="0">
                <a:solidFill>
                  <a:srgbClr val="596579"/>
                </a:solidFill>
              </a:defRPr>
            </a:pPr>
            <a:r>
              <a:rPr sz="1650" b="0" i="0">
                <a:solidFill>
                  <a:srgbClr val="596579"/>
                </a:solidFill>
              </a:rPr>
              <a:t>Cover at least one GET and one POST using the Swagger UI spec.</a:t>
            </a:r>
          </a:p>
        </p:txBody>
      </p:sp>
      <p:sp>
        <p:nvSpPr>
          <p:cNvPr id="21" name="homework-Restful-Booker">
            <a:extLst xmlns:a="http://schemas.openxmlformats.org/drawingml/2006/main">
              <a:ext uri="{FF2B5EF4-FFF2-40B4-BE49-F238E27FC236}">
                <a16:creationId xmlns:a16="http://schemas.microsoft.com/office/drawing/2014/main" id="{119ECFC8-5C1A-48CF-A6D5-08C66A2C3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3921557"/>
            <a:ext cx="5384800" cy="3429000"/>
          </a:xfrm>
          <a:prstGeom xmlns:a="http://schemas.openxmlformats.org/drawingml/2006/main" prst="roundRect">
            <a:avLst>
              <a:gd name="adj" fmla="val 7222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D7133F-180A-4E58-879B-36253B857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171950"/>
            <a:ext cx="4857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25" b="1" i="0">
                <a:solidFill>
                  <a:srgbClr val="2563EB"/>
                </a:solidFill>
              </a:defRPr>
            </a:pPr>
            <a:r>
              <a:rPr sz="2325" b="1" i="0">
                <a:solidFill>
                  <a:srgbClr val="2563EB"/>
                </a:solidFill>
              </a:rPr>
              <a:t>Restful-Booker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158F12-404A-4F0A-9E3F-B2709BDEB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648200"/>
            <a:ext cx="4857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75" b="0" i="0">
                <a:solidFill>
                  <a:srgbClr val="596579"/>
                </a:solidFill>
              </a:defRPr>
            </a:pPr>
            <a:r>
              <a:rPr sz="1275" b="0" i="0">
                <a:solidFill>
                  <a:srgbClr val="596579"/>
                </a:solidFill>
              </a:rPr>
              <a:t>restful-booker.herokuapp.com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C770FF-8F79-4876-8C11-5A474C21D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991100"/>
            <a:ext cx="485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AB7"/>
          </a:solidFill>
          <a:ln xmlns:a="http://schemas.openxmlformats.org/drawingml/2006/main" w="0">
            <a:solidFill>
              <a:srgbClr val="D6CAB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358C85-6EF2-4266-8FBE-5FA428878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5143500"/>
            <a:ext cx="4857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 b="1" i="0">
                <a:solidFill>
                  <a:srgbClr val="172033"/>
                </a:solidFill>
              </a:defRPr>
            </a:pPr>
            <a:r>
              <a:rPr sz="1650" b="1" i="0">
                <a:solidFill>
                  <a:srgbClr val="172033"/>
                </a:solidFill>
              </a:rPr>
              <a:t>Best for: CRUD flows, auth, and bug discovery.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4B8BD7-75C4-4E22-893A-2920BB0F8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5543550"/>
            <a:ext cx="4857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650" b="0" i="0">
                <a:solidFill>
                  <a:srgbClr val="596579"/>
                </a:solidFill>
              </a:defRPr>
            </a:pPr>
            <a:r>
              <a:rPr sz="1650" b="0" i="0">
                <a:solidFill>
                  <a:srgbClr val="596579"/>
                </a:solidFill>
              </a:rPr>
              <a:t>Authenticate, then create, retrieve, and delete a booking.</a:t>
            </a:r>
          </a:p>
        </p:txBody>
      </p:sp>
      <p:sp>
        <p:nvSpPr>
          <p:cNvPr id="27" name="homework-Beeceptor Samples">
            <a:extLst xmlns:a="http://schemas.openxmlformats.org/drawingml/2006/main">
              <a:ext uri="{FF2B5EF4-FFF2-40B4-BE49-F238E27FC236}">
                <a16:creationId xmlns:a16="http://schemas.microsoft.com/office/drawing/2014/main" id="{5A3AD6DB-012E-49C9-BB2A-E316D107A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84050" y="3921557"/>
            <a:ext cx="5384800" cy="3429000"/>
          </a:xfrm>
          <a:prstGeom xmlns:a="http://schemas.openxmlformats.org/drawingml/2006/main" prst="roundRect">
            <a:avLst>
              <a:gd name="adj" fmla="val 7222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6DEAA80-981F-4EDD-B764-7826D9A5E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0" y="4171950"/>
            <a:ext cx="4857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25" b="1" i="0">
                <a:solidFill>
                  <a:srgbClr val="F97316"/>
                </a:solidFill>
              </a:defRPr>
            </a:pPr>
            <a:r>
              <a:rPr sz="2325" b="1" i="0">
                <a:solidFill>
                  <a:srgbClr val="F97316"/>
                </a:solidFill>
              </a:rPr>
              <a:t>Beeceptor Samples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0C00033-5CFB-48C5-BFC6-4449A6E9E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0" y="4648200"/>
            <a:ext cx="4857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75" b="0" i="0">
                <a:solidFill>
                  <a:srgbClr val="596579"/>
                </a:solidFill>
              </a:defRPr>
            </a:pPr>
            <a:r>
              <a:rPr sz="1275" b="0" i="0">
                <a:solidFill>
                  <a:srgbClr val="596579"/>
                </a:solidFill>
              </a:rPr>
              <a:t>beeceptor.com/docs/sample-api-for-testing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A0009E9-7AC3-4834-B4BE-5A173E309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0" y="4991100"/>
            <a:ext cx="485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AB7"/>
          </a:solidFill>
          <a:ln xmlns:a="http://schemas.openxmlformats.org/drawingml/2006/main" w="0">
            <a:solidFill>
              <a:srgbClr val="D6CAB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960EBCF-A799-4AD0-9BB0-8CB74A33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0" y="5143500"/>
            <a:ext cx="4857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 b="1" i="0">
                <a:solidFill>
                  <a:srgbClr val="172033"/>
                </a:solidFill>
              </a:defRPr>
            </a:pPr>
            <a:r>
              <a:rPr sz="1650" b="1" i="0">
                <a:solidFill>
                  <a:srgbClr val="172033"/>
                </a:solidFill>
              </a:rPr>
              <a:t>Best for: quick JSON response prototyping.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7E6297A-18DB-4FF5-8478-9A230B246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0" y="5543550"/>
            <a:ext cx="4857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650" b="0" i="0">
                <a:solidFill>
                  <a:srgbClr val="596579"/>
                </a:solidFill>
              </a:defRPr>
            </a:pPr>
            <a:r>
              <a:rPr sz="1650" b="0" i="0">
                <a:solidFill>
                  <a:srgbClr val="596579"/>
                </a:solidFill>
              </a:rPr>
              <a:t>Pick one sample API and validate its responses with Playwright.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D884CBD-0F1D-4E96-A5F0-3F97CB1EB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962900"/>
            <a:ext cx="166497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50" b="0" i="0">
                <a:solidFill>
                  <a:srgbClr val="8B7D68"/>
                </a:solidFill>
              </a:defRPr>
            </a:pPr>
            <a:r>
              <a:rPr sz="1050" b="0" i="0">
                <a:solidFill>
                  <a:srgbClr val="8B7D68"/>
                </a:solidFill>
              </a:rPr>
              <a:t>Homework source: homework.md</a:t>
            </a:r>
          </a:p>
        </p:txBody>
      </p:sp>
    </p:spTree>
    <p:extLst>
      <p:ext uri="{BB962C8B-B14F-4D97-AF65-F5344CB8AC3E}">
        <p14:creationId xmlns:p14="http://schemas.microsoft.com/office/powerpoint/2010/main" val="120054202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2026-04-28T19:37:58.7050000Z</dcterms:created>
  <dcterms:modified xsi:type="dcterms:W3CDTF">2026-04-28T19:37:58.7050000Z</dcterms:modified>
</coreProperties>
</file>