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e02dfff4e4263" /><Relationship Type="http://schemas.openxmlformats.org/officeDocument/2006/relationships/extended-properties" Target="/docProps/app.xml" Id="Rc1c2b33111b34e07" /><Relationship Type="http://schemas.openxmlformats.org/officeDocument/2006/relationships/officeDocument" Target="/ppt/presentation.xml" Id="R98834aae5388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33e42d2fc4c71"/>
  </p:sldMasterIdLst>
  <p:notesMasterIdLst>
    <p:notesMasterId xmlns:r="http://schemas.openxmlformats.org/officeDocument/2006/relationships" r:id="R7415a39c3fbb4b58"/>
  </p:notesMasterIdLst>
  <p:sldIdLst>
    <p:sldId xmlns:r="http://schemas.openxmlformats.org/officeDocument/2006/relationships" id="256" r:id="Rc83c34eaa4df4e21"/>
    <p:sldId xmlns:r="http://schemas.openxmlformats.org/officeDocument/2006/relationships" id="257" r:id="R4b2ddaf588fe4554"/>
    <p:sldId xmlns:r="http://schemas.openxmlformats.org/officeDocument/2006/relationships" id="258" r:id="Ra1e098621c104c01"/>
    <p:sldId xmlns:r="http://schemas.openxmlformats.org/officeDocument/2006/relationships" id="259" r:id="R7daa50e0d1b24ff2"/>
    <p:sldId xmlns:r="http://schemas.openxmlformats.org/officeDocument/2006/relationships" id="260" r:id="R0feaf905ec234adc"/>
    <p:sldId xmlns:r="http://schemas.openxmlformats.org/officeDocument/2006/relationships" id="261" r:id="Rabbb4db3c89b46c1"/>
    <p:sldId xmlns:r="http://schemas.openxmlformats.org/officeDocument/2006/relationships" id="262" r:id="R2cf37ec4d2d94ce0"/>
    <p:sldId xmlns:r="http://schemas.openxmlformats.org/officeDocument/2006/relationships" id="263" r:id="R8ef318658b864961"/>
    <p:sldId xmlns:r="http://schemas.openxmlformats.org/officeDocument/2006/relationships" id="264" r:id="Red8f34269f5e4c13"/>
    <p:sldId xmlns:r="http://schemas.openxmlformats.org/officeDocument/2006/relationships" id="265" r:id="Rcbe82835a2fc4d5a"/>
    <p:sldId xmlns:r="http://schemas.openxmlformats.org/officeDocument/2006/relationships" id="266" r:id="Re8a7a3c2fe0143e7"/>
    <p:sldId xmlns:r="http://schemas.openxmlformats.org/officeDocument/2006/relationships" id="267" r:id="R0f9f7a48a68e4271"/>
    <p:sldId xmlns:r="http://schemas.openxmlformats.org/officeDocument/2006/relationships" id="268" r:id="R88326b988ebc4ca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33e42d2fc4c71" /><Relationship Type="http://schemas.openxmlformats.org/officeDocument/2006/relationships/theme" Target="/ppt/theme/theme1.xml" Id="Rec641ac33f954dd4" /><Relationship Type="http://schemas.openxmlformats.org/officeDocument/2006/relationships/notesMaster" Target="/ppt/notesMasters/notesMaster1.xml" Id="R7415a39c3fbb4b58" /><Relationship Type="http://schemas.openxmlformats.org/officeDocument/2006/relationships/presProps" Target="/ppt/presProps.xml" Id="Ra8ce33150f5044e3" /><Relationship Type="http://schemas.openxmlformats.org/officeDocument/2006/relationships/viewProps" Target="/ppt/viewProps.xml" Id="R2bd81b3979e942e4" /><Relationship Type="http://schemas.openxmlformats.org/officeDocument/2006/relationships/tableStyles" Target="/ppt/tableStyles.xml" Id="R2b67a7f317ac495f" /><Relationship Type="http://schemas.openxmlformats.org/officeDocument/2006/relationships/slide" Target="/ppt/slides/slide1.xml" Id="Rc83c34eaa4df4e21" /><Relationship Type="http://schemas.openxmlformats.org/officeDocument/2006/relationships/slide" Target="/ppt/slides/slide2.xml" Id="R4b2ddaf588fe4554" /><Relationship Type="http://schemas.openxmlformats.org/officeDocument/2006/relationships/slide" Target="/ppt/slides/slide3.xml" Id="Ra1e098621c104c01" /><Relationship Type="http://schemas.openxmlformats.org/officeDocument/2006/relationships/slide" Target="/ppt/slides/slide4.xml" Id="R7daa50e0d1b24ff2" /><Relationship Type="http://schemas.openxmlformats.org/officeDocument/2006/relationships/slide" Target="/ppt/slides/slide5.xml" Id="R0feaf905ec234adc" /><Relationship Type="http://schemas.openxmlformats.org/officeDocument/2006/relationships/slide" Target="/ppt/slides/slide6.xml" Id="Rabbb4db3c89b46c1" /><Relationship Type="http://schemas.openxmlformats.org/officeDocument/2006/relationships/slide" Target="/ppt/slides/slide7.xml" Id="R2cf37ec4d2d94ce0" /><Relationship Type="http://schemas.openxmlformats.org/officeDocument/2006/relationships/slide" Target="/ppt/slides/slide8.xml" Id="R8ef318658b864961" /><Relationship Type="http://schemas.openxmlformats.org/officeDocument/2006/relationships/slide" Target="/ppt/slides/slide9.xml" Id="Red8f34269f5e4c13" /><Relationship Type="http://schemas.openxmlformats.org/officeDocument/2006/relationships/slide" Target="/ppt/slides/slide10.xml" Id="Rcbe82835a2fc4d5a" /><Relationship Type="http://schemas.openxmlformats.org/officeDocument/2006/relationships/slide" Target="/ppt/slides/slide11.xml" Id="Re8a7a3c2fe0143e7" /><Relationship Type="http://schemas.openxmlformats.org/officeDocument/2006/relationships/slide" Target="/ppt/slides/slide12.xml" Id="R0f9f7a48a68e4271" /><Relationship Type="http://schemas.openxmlformats.org/officeDocument/2006/relationships/slide" Target="/ppt/slides/slide13.xml" Id="R88326b988ebc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8924f180f8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f16994bea4ef3" /><Relationship Type="http://schemas.openxmlformats.org/officeDocument/2006/relationships/notesMaster" Target="/ppt/notesMasters/notesMaster1.xml" Id="R30039372ae774e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00e5e4fa5e4c25" /><Relationship Type="http://schemas.openxmlformats.org/officeDocument/2006/relationships/notesMaster" Target="/ppt/notesMasters/notesMaster1.xml" Id="Raf6c88ec4b3147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7309d84f3f475f" /><Relationship Type="http://schemas.openxmlformats.org/officeDocument/2006/relationships/notesMaster" Target="/ppt/notesMasters/notesMaster1.xml" Id="R6cf04d66948149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10ea36fae14b27" /><Relationship Type="http://schemas.openxmlformats.org/officeDocument/2006/relationships/notesMaster" Target="/ppt/notesMasters/notesMaster1.xml" Id="Re654b32193ab4d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3ec06603c44ae3" /><Relationship Type="http://schemas.openxmlformats.org/officeDocument/2006/relationships/notesMaster" Target="/ppt/notesMasters/notesMaster1.xml" Id="Re30c00e8de8644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7c83629663429f" /><Relationship Type="http://schemas.openxmlformats.org/officeDocument/2006/relationships/notesMaster" Target="/ppt/notesMasters/notesMaster1.xml" Id="Ra7cfbfe5ea1042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706e93ee1b4705" /><Relationship Type="http://schemas.openxmlformats.org/officeDocument/2006/relationships/notesMaster" Target="/ppt/notesMasters/notesMaster1.xml" Id="Rf6c820be755d43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2a59abc342440b" /><Relationship Type="http://schemas.openxmlformats.org/officeDocument/2006/relationships/notesMaster" Target="/ppt/notesMasters/notesMaster1.xml" Id="R51d2e61ebcb048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9b1a1a0a344020" /><Relationship Type="http://schemas.openxmlformats.org/officeDocument/2006/relationships/notesMaster" Target="/ppt/notesMasters/notesMaster1.xml" Id="R4d9ede2d3a844d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6651e065d045ab" /><Relationship Type="http://schemas.openxmlformats.org/officeDocument/2006/relationships/notesMaster" Target="/ppt/notesMasters/notesMaster1.xml" Id="R6633244692b34c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f87322e0314260" /><Relationship Type="http://schemas.openxmlformats.org/officeDocument/2006/relationships/notesMaster" Target="/ppt/notesMasters/notesMaster1.xml" Id="R0ac38548af7d44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dcea5c7134e28" /><Relationship Type="http://schemas.openxmlformats.org/officeDocument/2006/relationships/notesMaster" Target="/ppt/notesMasters/notesMaster1.xml" Id="R881816f3ff8c4b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ff8253a30948e5" /><Relationship Type="http://schemas.openxmlformats.org/officeDocument/2006/relationships/notesMaster" Target="/ppt/notesMasters/notesMaster1.xml" Id="R5c564ae02b1b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22d548b9340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0107de749f54c69" /><Relationship Type="http://schemas.openxmlformats.org/officeDocument/2006/relationships/slideLayout" Target="/ppt/slideLayouts/slideLayout2.xml" Id="R89e8c6dbfa87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e8c6dbfa87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d1f8bb5684789" /><Relationship Type="http://schemas.openxmlformats.org/officeDocument/2006/relationships/image" Target="/ppt/media/image.png" Id="Rd8d96c0214504b44" /><Relationship Type="http://schemas.openxmlformats.org/officeDocument/2006/relationships/notesSlide" Target="/ppt/notesSlides/notesSlide1.xml" Id="R1f2230c266d6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c87a9fe0b4b93" /><Relationship Type="http://schemas.openxmlformats.org/officeDocument/2006/relationships/notesSlide" Target="/ppt/notesSlides/notesSlide2.xml" Id="R028ee161cf8c4f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56b2516dcd4e96" /><Relationship Type="http://schemas.openxmlformats.org/officeDocument/2006/relationships/notesSlide" Target="/ppt/notesSlides/notesSlide3.xml" Id="R98879975bcde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2dc25f8f84243" /><Relationship Type="http://schemas.openxmlformats.org/officeDocument/2006/relationships/image" Target="/ppt/media/image2.png" Id="R2ddae39c1fb24ac0" /><Relationship Type="http://schemas.openxmlformats.org/officeDocument/2006/relationships/notesSlide" Target="/ppt/notesSlides/notesSlide4.xml" Id="R006cca04b9ba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7985745fb4fb9" /><Relationship Type="http://schemas.openxmlformats.org/officeDocument/2006/relationships/notesSlide" Target="/ppt/notesSlides/notesSlide5.xml" Id="R539a79c22b4e43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8ec14a3e0b49e0" /><Relationship Type="http://schemas.openxmlformats.org/officeDocument/2006/relationships/notesSlide" Target="/ppt/notesSlides/notesSlide6.xml" Id="Refdebd8e9705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ec4ea655ab4d71" /><Relationship Type="http://schemas.openxmlformats.org/officeDocument/2006/relationships/notesSlide" Target="/ppt/notesSlides/notesSlide7.xml" Id="Ra2d541dddd1944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5dde9fa374296" /><Relationship Type="http://schemas.openxmlformats.org/officeDocument/2006/relationships/notesSlide" Target="/ppt/notesSlides/notesSlide8.xml" Id="R04470971a6a840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c5fa201ea44ecc" /><Relationship Type="http://schemas.openxmlformats.org/officeDocument/2006/relationships/image" Target="/ppt/media/image3.png" Id="Rd4ea525082144292" /><Relationship Type="http://schemas.openxmlformats.org/officeDocument/2006/relationships/notesSlide" Target="/ppt/notesSlides/notesSlide9.xml" Id="R03290940c901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aa12894b1b4db3" /><Relationship Type="http://schemas.openxmlformats.org/officeDocument/2006/relationships/notesSlide" Target="/ppt/notesSlides/notesSlide10.xml" Id="R218be0ade25449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fd7454e28413d" /><Relationship Type="http://schemas.openxmlformats.org/officeDocument/2006/relationships/notesSlide" Target="/ppt/notesSlides/notesSlide11.xml" Id="R017872651d1d4c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4671fee2343bf" /><Relationship Type="http://schemas.openxmlformats.org/officeDocument/2006/relationships/notesSlide" Target="/ppt/notesSlides/notesSlide12.xml" Id="Rcffe4732e8b049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6c4d0c2ab44e9" /><Relationship Type="http://schemas.openxmlformats.org/officeDocument/2006/relationships/notesSlide" Target="/ppt/notesSlides/notesSlide13.xml" Id="R86379b89090a45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EE8CB3B0-34CD-4427-8B9B-486BEC2C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pill-TEACHING DECK">
            <a:extLst xmlns:a="http://schemas.openxmlformats.org/drawingml/2006/main">
              <a:ext uri="{FF2B5EF4-FFF2-40B4-BE49-F238E27FC236}">
                <a16:creationId xmlns:a16="http://schemas.microsoft.com/office/drawing/2014/main" id="{D762E2D8-08DB-46EE-90C2-A4B69EEC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83309"/>
            <a:ext cx="2476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B3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60C8-31E0-4A7E-BE07-D5EE005B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TEACHING DECK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B53696-DEF5-4BEE-A0F0-982F0C96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39115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Spec-Driven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API Test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3283D-E7BF-4AD9-A998-51F6A7F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53250"/>
            <a:ext cx="7696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00" b="0" i="0">
                <a:solidFill>
                  <a:srgbClr val="D6F2C8"/>
                </a:solidFill>
              </a:defRPr>
            </a:pPr>
            <a:r>
              <a:rPr sz="2400" b="0" i="0">
                <a:solidFill>
                  <a:srgbClr val="D6F2C8"/>
                </a:solidFill>
              </a:rPr>
              <a:t>Given an OpenAPI spec, generate executable Playwright API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96ED6-5F16-4D52-8779-DB903242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34350"/>
            <a:ext cx="91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 i="0">
                <a:solidFill>
                  <a:srgbClr val="2DD4BF"/>
                </a:solidFill>
              </a:defRPr>
            </a:pPr>
            <a:r>
              <a:rPr sz="2100" b="1" i="0">
                <a:solidFill>
                  <a:srgbClr val="2DD4BF"/>
                </a:solidFill>
              </a:rPr>
              <a:t>spec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2CF59-E219-4105-8ECD-1530014C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80772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CBD5E1"/>
                </a:solidFill>
              </a:defRPr>
            </a:pPr>
            <a:r>
              <a:rPr sz="2850" b="1" i="0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EE546-6032-4A3A-96E7-06FA886F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81343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 i="0">
                <a:solidFill>
                  <a:srgbClr val="FACC15"/>
                </a:solidFill>
              </a:defRPr>
            </a:pPr>
            <a:r>
              <a:rPr sz="2100" b="1" i="0">
                <a:solidFill>
                  <a:srgbClr val="FACC15"/>
                </a:solidFill>
              </a:rPr>
              <a:t>tests out</a:t>
            </a:r>
          </a:p>
        </p:txBody>
      </p:sp>
      <p:pic>
        <p:nvPicPr>
          <p:cNvPr id="9" name="openapi-logo-stack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96c0214504b44"/>
          <a:stretch xmlns:a="http://schemas.openxmlformats.org/drawingml/2006/main"/>
        </p:blipFill>
        <p:spPr>
          <a:xfrm xmlns:a="http://schemas.openxmlformats.org/drawingml/2006/main">
            <a:off x="12195785" y="2030730"/>
            <a:ext cx="4088179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code-block">
            <a:extLst xmlns:a="http://schemas.openxmlformats.org/drawingml/2006/main">
              <a:ext uri="{FF2B5EF4-FFF2-40B4-BE49-F238E27FC236}">
                <a16:creationId xmlns:a16="http://schemas.microsoft.com/office/drawing/2014/main" id="{83883BCA-C13D-498C-89F8-D9E96C0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0330"/>
            <a:ext cx="5429250" cy="1805940"/>
          </a:xfrm>
          <a:prstGeom xmlns:a="http://schemas.openxmlformats.org/drawingml/2006/main" prst="roundRect">
            <a:avLst>
              <a:gd name="adj" fmla="val 10549"/>
            </a:avLst>
          </a:prstGeom>
          <a:solidFill xmlns:a="http://schemas.openxmlformats.org/drawingml/2006/main">
            <a:srgbClr val="0B122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FD5E-6E16-4D08-85B7-0416DEA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686550"/>
            <a:ext cx="48958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openapi.yaml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-&gt; generate-tests.ts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-&gt; openapi.spec.ts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-&gt; playwright test</a:t>
            </a:r>
          </a:p>
        </p:txBody>
      </p:sp>
    </p:spTree>
    <p:extLst>
      <p:ext uri="{BB962C8B-B14F-4D97-AF65-F5344CB8AC3E}">
        <p14:creationId xmlns:p14="http://schemas.microsoft.com/office/powerpoint/2010/main" val="6858651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A85D7D7-65A5-4374-9E70-8842F4C6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D0796F-F5E4-488D-AFF1-53C4FD1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893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Why generate tests from OpenAPI?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436E0E-1976-47E6-BD55-E27B3F5D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7543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Because the spec already contains the contract learners need to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F56CD-85A6-4225-AA6D-16E8FEA7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65B32E"/>
                </a:solidFill>
              </a:defRPr>
            </a:pPr>
            <a:r>
              <a:rPr sz="5400" b="1" i="0">
                <a:solidFill>
                  <a:srgbClr val="65B32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4C5C5-E47F-4283-A289-648E6EB2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00450"/>
            <a:ext cx="1560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The contract is already written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669D7-E105-4B2A-AEDD-9BBE93B1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57650"/>
            <a:ext cx="958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`paths`, methods, parameters, responses, and examples describe how the API should behave.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0B5D2-40B7-452F-8562-EC3741C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2563EB"/>
                </a:solidFill>
              </a:defRPr>
            </a:pPr>
            <a:r>
              <a:rPr sz="54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0AF71-2CFB-4183-9ADA-2015DE9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38750"/>
            <a:ext cx="1560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Repetition moves into codegen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38842-2CE7-4E2A-BDCF-8F75F60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15000"/>
            <a:ext cx="1129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The generator writes the boring parts: request calls, status checks, content type checks, and expected bodies.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B1822-E3BD-4080-8BC9-EDD053B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F97316"/>
                </a:solidFill>
              </a:defRPr>
            </a:pPr>
            <a:r>
              <a:rPr sz="5400" b="1" i="0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D2412-34C4-4395-90F6-44EB10FA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610350"/>
            <a:ext cx="1560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One source connects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EC21C-AE72-456E-A541-1499F33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067550"/>
            <a:ext cx="7334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API, docs, and tests can all point back to the same OpenAPI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5442B-461D-44EA-A52B-4D25C5F1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Source anchors: Playwright API request fixture; OpenAPI code generation concepts</a:t>
            </a:r>
          </a:p>
        </p:txBody>
      </p:sp>
    </p:spTree>
    <p:extLst>
      <p:ext uri="{BB962C8B-B14F-4D97-AF65-F5344CB8AC3E}">
        <p14:creationId xmlns:p14="http://schemas.microsoft.com/office/powerpoint/2010/main" val="13905181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6180146-C48A-4526-A58E-0B05F3A0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82F101-C02F-49AC-A880-01B598AA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7627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Project workflow overview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0343931-1477-4598-86EF-80F1DC9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repo teaches both a local demo loop and the final provided-spec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9A219-4EB1-4961-B6F8-481DA7E9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805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Demo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90903-354B-4ED9-8498-501C3B5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9DCAD-2C75-4EE9-8F28-74B811DB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OpenAPI spec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BEC45-6636-4D3B-98A7-6C30E576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sample with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78813-61A1-4ED9-BA97-D6EE22B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CE198-F486-4155-AEC7-8A10A711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956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169E3-F7EE-4B22-B393-9624E96A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72944-ACC0-46F3-A8B0-F98BE30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86250"/>
            <a:ext cx="1295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generated 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9DBA9-4F46-48C8-8BE6-5246AEB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263B5-C2CD-4935-BF53-97500D92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8E34A-7206-4DC3-8C14-0D252822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Playwright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3FB62-C563-4E22-A29E-8F84C9ED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generated tests</a:t>
            </a:r>
          </a:p>
        </p:txBody>
      </p:sp>
      <p:sp>
        <p:nvSpPr>
          <p:cNvPr id="16" name="code-block">
            <a:extLst xmlns:a="http://schemas.openxmlformats.org/drawingml/2006/main">
              <a:ext uri="{FF2B5EF4-FFF2-40B4-BE49-F238E27FC236}">
                <a16:creationId xmlns:a16="http://schemas.microsoft.com/office/drawing/2014/main" id="{F7767D41-5D24-49C8-93BD-29190E7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3787"/>
            <a:ext cx="8048625" cy="1104595"/>
          </a:xfrm>
          <a:prstGeom xmlns:a="http://schemas.openxmlformats.org/drawingml/2006/main" prst="roundRect">
            <a:avLst>
              <a:gd name="adj" fmla="val 17246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A9F42-C478-497E-97AB-6F5C6DC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38750"/>
            <a:ext cx="7524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npm run generate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npm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324E7-EF45-4A8D-9BF0-FCA47C17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90800"/>
            <a:ext cx="805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563EB"/>
                </a:solidFill>
              </a:defRPr>
            </a:pPr>
            <a:r>
              <a:rPr sz="2850" b="1" i="0">
                <a:solidFill>
                  <a:srgbClr val="2563EB"/>
                </a:solidFill>
              </a:rPr>
              <a:t>Real API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6AFCC-C1EF-4E8C-8940-A44BC6D2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99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628E8-F285-4022-A875-E5B5A9FB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Provided spec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038F8-8B1A-4D3F-872F-0AF318A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80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file or 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87187-2F90-4970-B246-4024366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8100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5A5A1-83F5-4FA2-A765-8E22647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956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CC7E5-BA0D-4DFF-86C8-CEE28BEC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6004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Test 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A27F6-B989-4C19-A9EB-A0C1361C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286250"/>
            <a:ext cx="1181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generated spec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ECF97-5380-47AB-8CE7-7556C692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38100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77896-73AC-4C9F-B527-8DE001A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2956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7E5F8-7FBB-4B4E-8A26-776D536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6004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Target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00CBA-AFD7-4AFF-8DD1-49D1868C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286250"/>
            <a:ext cx="114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via BASE_URL</a:t>
            </a:r>
          </a:p>
        </p:txBody>
      </p:sp>
      <p:sp>
        <p:nvSpPr>
          <p:cNvPr id="30" name="code-block">
            <a:extLst xmlns:a="http://schemas.openxmlformats.org/drawingml/2006/main">
              <a:ext uri="{FF2B5EF4-FFF2-40B4-BE49-F238E27FC236}">
                <a16:creationId xmlns:a16="http://schemas.microsoft.com/office/drawing/2014/main" id="{0FE95F1C-C62A-4517-BB54-D2594FE3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003787"/>
            <a:ext cx="8048625" cy="996696"/>
          </a:xfrm>
          <a:prstGeom xmlns:a="http://schemas.openxmlformats.org/drawingml/2006/main" prst="roundRect">
            <a:avLst>
              <a:gd name="adj" fmla="val 19113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7C72F8-CF20-4C38-A2C0-631EC523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38750"/>
            <a:ext cx="752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npm run generate:from-spec -- --spec ./openapi.yaml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BASE_URL=https://api.example.com npm run test:generated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510804-83EE-4101-9186-1D3A1A0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Spec-driven API test automation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327669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BE7AF15-8AC9-4876-A4AC-63B0E0F7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1B8C5-9536-4EBE-9E08-1AFCFC75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52387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Anatomy of the spec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B07297-ABBB-485C-82FF-48B4282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7296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generator reads the fields that can become executable behavior.</a:t>
            </a:r>
          </a:p>
        </p:txBody>
      </p:sp>
      <p:sp>
        <p:nvSpPr>
          <p:cNvPr id="4" name="code-block">
            <a:extLst xmlns:a="http://schemas.openxmlformats.org/drawingml/2006/main">
              <a:ext uri="{FF2B5EF4-FFF2-40B4-BE49-F238E27FC236}">
                <a16:creationId xmlns:a16="http://schemas.microsoft.com/office/drawing/2014/main" id="{F6887ABF-E42A-4F86-B4BF-366183B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1432"/>
            <a:ext cx="8471059" cy="6348298"/>
          </a:xfrm>
          <a:prstGeom xmlns:a="http://schemas.openxmlformats.org/drawingml/2006/main" prst="roundRect">
            <a:avLst>
              <a:gd name="adj" fmla="val 3001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5B70A-0F93-4BB1-8B82-72C881F1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7943850" cy="432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paths: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/v2: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get: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operationId: getVersionDetailsv2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parameters: [...]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requestBody: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content: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application/json: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  example: {...}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responses: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'200':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content: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  application/json: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    examples: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      foo: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 b="0" i="0">
                <a:solidFill>
                  <a:srgbClr val="D1E7FF"/>
                </a:solidFill>
              </a:defRPr>
            </a:pPr>
            <a:r>
              <a:rPr sz="1500" b="0" i="0">
                <a:solidFill>
                  <a:srgbClr val="D1E7FF"/>
                </a:solidFill>
              </a:rPr>
              <a:t>                  value: {...}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ae39c1fb24ac0"/>
          <a:stretch xmlns:a="http://schemas.openxmlformats.org/drawingml/2006/main"/>
        </p:blipFill>
        <p:spPr>
          <a:xfrm xmlns:a="http://schemas.openxmlformats.org/drawingml/2006/main">
            <a:off x="9829324" y="3352381"/>
            <a:ext cx="1760220" cy="1257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5AD98-7767-4441-BCB3-35D1C841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65B32E"/>
                </a:solidFill>
              </a:defRPr>
            </a:pPr>
            <a:r>
              <a:rPr sz="5400" b="1" i="0">
                <a:solidFill>
                  <a:srgbClr val="65B32E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6061F-A41D-4376-93BB-E51EF116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14900"/>
            <a:ext cx="661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`paths` +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03697-D447-4F02-96EC-A8F15AF3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721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Produces a candidate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A7201-7B65-478B-BFE2-36CC1970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2563EB"/>
                </a:solidFill>
              </a:defRPr>
            </a:pPr>
            <a:r>
              <a:rPr sz="5400" b="1" i="0">
                <a:solidFill>
                  <a:srgbClr val="2563EB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00454-7F38-4728-9CA9-C9E9A4C4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61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`parameters` + request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3506-0860-4669-A7F6-34747E5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93420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Builds URL and request body.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32B8B-B284-4AA8-870D-E7C8A94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2955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F97316"/>
                </a:solidFill>
              </a:defRPr>
            </a:pPr>
            <a:r>
              <a:rPr sz="5400" b="1" i="0">
                <a:solidFill>
                  <a:srgbClr val="F97316"/>
                </a:solidFill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C8163-978E-484A-906D-78D7DA0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867650"/>
            <a:ext cx="661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`responses.2xx.examples`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CD781-AD74-4402-ACE2-690BE09A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43900"/>
            <a:ext cx="5029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Builds status, content-type, and body assertions.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627E5-34D9-4BE6-9165-3CF5206C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Teaching point: examples create stronger generated tests than schema-only responses.</a:t>
            </a:r>
          </a:p>
        </p:txBody>
      </p:sp>
    </p:spTree>
    <p:extLst>
      <p:ext uri="{BB962C8B-B14F-4D97-AF65-F5344CB8AC3E}">
        <p14:creationId xmlns:p14="http://schemas.microsoft.com/office/powerpoint/2010/main" val="5979017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F369405-E17B-4A5D-A939-92DC228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E890F-5FD6-491C-A99F-A56C2DA6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419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Step 1: Load and validate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4176DC-FC14-4F39-9ECE-AB112AB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`loadSpec()` accepts a local file or URL, parses it, then guards the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40384-C22D-41BB-B85E-C53BA447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90950"/>
            <a:ext cx="219075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A9C46-B345-47D5-BA0B-FB31D519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95750"/>
            <a:ext cx="1866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file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1651A-BEC8-4400-9228-FA2676C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14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./openapi.yaml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03F93-A966-4386-8829-0B5FA20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 b="1" i="0">
                <a:solidFill>
                  <a:srgbClr val="596579"/>
                </a:solidFill>
              </a:defRPr>
            </a:pPr>
            <a:r>
              <a:rPr sz="2250" b="1" i="0">
                <a:solidFill>
                  <a:srgbClr val="596579"/>
                </a:solidFill>
              </a:rPr>
              <a:t>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93F8F-A50D-4C22-94F1-DDF03F63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7175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1CA16-9F81-454B-A94E-9B8CB747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HTTP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B924F-CB29-4A79-9344-546F9E0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81550"/>
            <a:ext cx="1790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https://.../openapi.yaml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B28FF-D91B-4DA5-B743-CCAF0C8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053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7350A-061F-46C5-A6AB-B689D3E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DE301-1381-4F06-8B33-B2902E3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A8583-C14C-4F5B-953B-05B5ABD2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YAML or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28096-B145-4248-8081-6F7B8234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3053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FBD62-3709-431C-AA39-ECF27E9C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7909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6D52D-B5D2-45B0-AF3D-901A6470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0957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F97316"/>
                </a:solidFill>
              </a:defRPr>
            </a:pPr>
            <a:r>
              <a:rPr sz="1875" b="1" i="0">
                <a:solidFill>
                  <a:srgbClr val="F97316"/>
                </a:solidFill>
              </a:rPr>
              <a:t>guard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D9531-5758-4A99-8690-53F52D9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81550"/>
            <a:ext cx="110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OpenAPI 3.0.x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FFD66-4575-4301-BB13-24956142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43053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202B4-1A87-4931-8F44-CBAF37BC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90525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D5757-20D9-4688-A296-D8B4568E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2100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F7D32"/>
                </a:solidFill>
              </a:defRPr>
            </a:pPr>
            <a:r>
              <a:rPr sz="1875" b="1" i="0">
                <a:solidFill>
                  <a:srgbClr val="2F7D32"/>
                </a:solidFill>
              </a:rPr>
              <a:t>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A823C-3C69-4385-8352-75895AB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8958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non-empty paths</a:t>
            </a:r>
          </a:p>
        </p:txBody>
      </p:sp>
      <p:sp>
        <p:nvSpPr>
          <p:cNvPr id="23" name="code-block">
            <a:extLst xmlns:a="http://schemas.openxmlformats.org/drawingml/2006/main">
              <a:ext uri="{FF2B5EF4-FFF2-40B4-BE49-F238E27FC236}">
                <a16:creationId xmlns:a16="http://schemas.microsoft.com/office/drawing/2014/main" id="{EDF9207F-8F30-4814-B5AF-FE1E2D2E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6353"/>
            <a:ext cx="16649700" cy="1873377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2E7BF-278A-478A-B779-2C9ABE70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20000"/>
            <a:ext cx="1611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0" i="0">
                <a:solidFill>
                  <a:srgbClr val="D1E7FF"/>
                </a:solidFill>
              </a:defRPr>
            </a:pPr>
            <a:r>
              <a:rPr sz="1575" b="0" i="0">
                <a:solidFill>
                  <a:srgbClr val="D1E7FF"/>
                </a:solidFill>
              </a:rPr>
              <a:t>const specInput = values.spec ?? process.env.OPENAPI_SPEC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 b="0" i="0">
                <a:solidFill>
                  <a:srgbClr val="D1E7FF"/>
                </a:solidFill>
              </a:defRPr>
            </a:pPr>
            <a:r>
              <a:rPr sz="1575" b="0" i="0">
                <a:solidFill>
                  <a:srgbClr val="D1E7FF"/>
                </a:solidFill>
              </a:rPr>
              <a:t>const spec = await loadSpec(specInput)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 b="0" i="0">
                <a:solidFill>
                  <a:srgbClr val="D1E7FF"/>
                </a:solidFill>
              </a:defRPr>
            </a:pPr>
            <a:r>
              <a:rPr sz="1575" b="0" i="0">
                <a:solidFill>
                  <a:srgbClr val="D1E7FF"/>
                </a:solidFill>
              </a:rPr>
              <a:t>if (!document.openapi?.startsWith('3.0.')) throw new Error(...)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 b="0" i="0">
                <a:solidFill>
                  <a:srgbClr val="D1E7FF"/>
                </a:solidFill>
              </a:defRPr>
            </a:pPr>
            <a:r>
              <a:rPr sz="1575" b="0" i="0">
                <a:solidFill>
                  <a:srgbClr val="D1E7FF"/>
                </a:solidFill>
              </a:rPr>
              <a:t>if (!document.paths || Object.keys(document.paths).length === 0) throw new Error(...)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37CA3-725A-4060-95CF-76BA1D4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Fail early when the source contract cannot produce reliable tests.</a:t>
            </a:r>
          </a:p>
        </p:txBody>
      </p:sp>
    </p:spTree>
    <p:extLst>
      <p:ext uri="{BB962C8B-B14F-4D97-AF65-F5344CB8AC3E}">
        <p14:creationId xmlns:p14="http://schemas.microsoft.com/office/powerpoint/2010/main" val="11520829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00EC8A3-B7FF-43AC-A3A8-FA7BFA5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5E388-D95C-4145-8FBE-4608F090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70294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Step 2: Discover operations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5CBF0A-169C-40AC-9553-1BDC7168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680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`listOperations()` walks every path and supported HTTP method.</a:t>
            </a:r>
          </a:p>
        </p:txBody>
      </p:sp>
      <p:sp>
        <p:nvSpPr>
          <p:cNvPr id="4" name="code-block">
            <a:extLst xmlns:a="http://schemas.openxmlformats.org/drawingml/2006/main">
              <a:ext uri="{FF2B5EF4-FFF2-40B4-BE49-F238E27FC236}">
                <a16:creationId xmlns:a16="http://schemas.microsoft.com/office/drawing/2014/main" id="{E2519CC9-D036-47DB-8095-90F2E27B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2819"/>
            <a:ext cx="7286625" cy="6676911"/>
          </a:xfrm>
          <a:prstGeom xmlns:a="http://schemas.openxmlformats.org/drawingml/2006/main" prst="roundRect">
            <a:avLst>
              <a:gd name="adj" fmla="val 2853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5F80F-AACC-4AC3-BB3A-DF5AB0E9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676275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HTTP_METHODS = [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  'get', 'post', 'put',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  'patch', 'delete',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  'head', 'options'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for each path: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  for each method: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    if operation exists: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725" b="0" i="0">
                <a:solidFill>
                  <a:srgbClr val="D1E7FF"/>
                </a:solidFill>
              </a:defRPr>
            </a:pPr>
            <a:r>
              <a:rPr sz="1725" b="0" i="0">
                <a:solidFill>
                  <a:srgbClr val="D1E7FF"/>
                </a:solidFill>
              </a:rPr>
              <a:t>      add 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073A3-8775-4421-9887-B4B81855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891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172033"/>
                </a:solidFill>
              </a:defRPr>
            </a:pPr>
            <a:r>
              <a:rPr sz="2850" b="1" i="0">
                <a:solidFill>
                  <a:srgbClr val="172033"/>
                </a:solidFill>
              </a:rPr>
              <a:t>Candidate test names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90D2E-5203-4A43-99C3-7C5C618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91170"/>
            <a:ext cx="8905875" cy="1520190"/>
          </a:xfrm>
          <a:prstGeom xmlns:a="http://schemas.openxmlformats.org/drawingml/2006/main" prst="roundRect">
            <a:avLst>
              <a:gd name="adj" fmla="val 1503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FCE02-353A-4796-B7E1-E7AC58A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53050"/>
            <a:ext cx="8267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2F7D32"/>
                </a:solidFill>
              </a:defRPr>
            </a:pPr>
            <a:r>
              <a:rPr sz="2550" b="1" i="0">
                <a:solidFill>
                  <a:srgbClr val="2F7D32"/>
                </a:solidFill>
              </a:rPr>
              <a:t>GET / listVersionsv2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C6A64-A470-41F8-9321-3F820D4B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62650"/>
            <a:ext cx="8267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GET /v2 getVersionDetailsv2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E4AA1-D1EF-4D3B-A9EF-F3DC609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838950"/>
            <a:ext cx="668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0" i="0">
                <a:solidFill>
                  <a:srgbClr val="596579"/>
                </a:solidFill>
              </a:defRPr>
            </a:pPr>
            <a:r>
              <a:rPr sz="1950" b="0" i="0">
                <a:solidFill>
                  <a:srgbClr val="596579"/>
                </a:solidFill>
              </a:rPr>
              <a:t>Each operation becomes a candidate. It only emits a test if a 2xx response exists.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B2AAA-05D6-445A-A24F-B4E53FD4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Spec-driven API test automation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5770259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E31E06C-C112-4E7F-B7EB-0FB48B1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F2AFBD-E5CC-46ED-9AE9-7A91BBEC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2293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Step 3: Build the request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B0FE51-8874-4565-8078-00277FFF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7658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OpenAPI examples and defaults become a concrete Playwright request.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BCBE6-4197-4014-9382-7997D67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65B32E"/>
                </a:solidFill>
              </a:defRPr>
            </a:pPr>
            <a:r>
              <a:rPr sz="5400" b="1" i="0">
                <a:solidFill>
                  <a:srgbClr val="65B32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BF592-F7A4-4ACD-8487-6E3FD102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05300"/>
            <a:ext cx="659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Path params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9B218-EF86-4ADD-AABC-FE5E8B1D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81550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Use parameter examples, schema examples, defaults, or `sample-name`.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FFB65-BB72-4273-B5E7-6E98A68D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2563EB"/>
                </a:solidFill>
              </a:defRPr>
            </a:pPr>
            <a:r>
              <a:rPr sz="5400" b="1" i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174E7-53CA-4470-B9E9-21D1E6C3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81650"/>
            <a:ext cx="659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Query params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25127-D685-4407-92C2-42A06D3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038850"/>
            <a:ext cx="5505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Append concrete values through `URLSearchParams`.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6276D-4222-4C90-9668-522627B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866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F97316"/>
                </a:solidFill>
              </a:defRPr>
            </a:pPr>
            <a:r>
              <a:rPr sz="5400" b="1" i="0">
                <a:solidFill>
                  <a:srgbClr val="F9731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CCAD3-AAD0-4368-8AE6-42EF66B5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991350"/>
            <a:ext cx="659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Request body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4772D-AE15-44E9-8749-C9BC55E6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4485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JSON examples become Playwright `{ data: ... }`.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17D14-8BA0-4A05-AD80-7AF61A5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86450"/>
            <a:ext cx="59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-&gt;</a:t>
            </a:r>
          </a:p>
        </p:txBody>
      </p:sp>
      <p:sp>
        <p:nvSpPr>
          <p:cNvPr id="14" name="code-block">
            <a:extLst xmlns:a="http://schemas.openxmlformats.org/drawingml/2006/main">
              <a:ext uri="{FF2B5EF4-FFF2-40B4-BE49-F238E27FC236}">
                <a16:creationId xmlns:a16="http://schemas.microsoft.com/office/drawing/2014/main" id="{45946C0F-15C0-4BA6-ADA0-1432640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878" y="4286783"/>
            <a:ext cx="7637972" cy="2817495"/>
          </a:xfrm>
          <a:prstGeom xmlns:a="http://schemas.openxmlformats.org/drawingml/2006/main" prst="roundRect">
            <a:avLst>
              <a:gd name="adj" fmla="val 6761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A43FF-4101-488A-885F-2D87714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14850"/>
            <a:ext cx="7105650" cy="2362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const response = await request.get('/v2')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const created = await request.post('/users', {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data: {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  name: 'Ada'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}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})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128A4-40DF-4E0D-B1DC-2D15632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334250"/>
            <a:ext cx="6591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generated request uses Playwright Test's built-in `request` fixture, so no browser page is needed.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67AF3-C019-48E9-AA73-D2C1EDA2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Playwright API tests can call GET, POST, PUT, PATCH, DELETE, HEAD, and fetch-style requests directly.</a:t>
            </a:r>
          </a:p>
        </p:txBody>
      </p:sp>
    </p:spTree>
    <p:extLst>
      <p:ext uri="{BB962C8B-B14F-4D97-AF65-F5344CB8AC3E}">
        <p14:creationId xmlns:p14="http://schemas.microsoft.com/office/powerpoint/2010/main" val="17216785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86A173B-22C6-448C-81B7-6B5977F1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003B99-933D-41E2-88D0-630C074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953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Step 4: Build the assertions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FA2EC1-035E-483F-ACAC-99AD86B8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803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first 2xx response contract decides how rich the generated test can be.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98862-D0B3-4939-920C-FC108E22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2350"/>
            <a:ext cx="3048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202E4-DD7D-4E2C-8958-6497793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70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2xx response?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675BF-CBA4-4B85-AD08-21A4DC2B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186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otherwise skip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ECC14-50D1-4FC3-A062-D9F4ABA3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59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96FC5-088F-49EC-BCA9-83B56CA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2818"/>
            <a:ext cx="3048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9AB58-FC45-4434-AB37-F2D624A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270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JSON content?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6B5A9-9586-4C33-9321-E2C0531B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055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assert content-type when present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38A17-196C-402E-B087-994B1B9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59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2F7D32"/>
                </a:solidFill>
              </a:defRPr>
            </a:pPr>
            <a:r>
              <a:rPr sz="2850" b="1" i="0">
                <a:solidFill>
                  <a:srgbClr val="2F7D32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4CD27-6B5F-48E7-845E-FB0FCBB6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16972"/>
            <a:ext cx="3048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5B0E8-7059-4EFC-9111-3FB8FD6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0"/>
            <a:ext cx="270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F97316"/>
                </a:solidFill>
              </a:defRPr>
            </a:pPr>
            <a:r>
              <a:rPr sz="1875" b="1" i="0">
                <a:solidFill>
                  <a:srgbClr val="F97316"/>
                </a:solidFill>
              </a:rPr>
              <a:t>example body?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6D7D3-D400-4095-9C73-2BC69B8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305800"/>
            <a:ext cx="186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assert exact JSON body</a:t>
            </a:r>
          </a:p>
        </p:txBody>
      </p:sp>
      <p:sp>
        <p:nvSpPr>
          <p:cNvPr id="15" name="code-block">
            <a:extLst xmlns:a="http://schemas.openxmlformats.org/drawingml/2006/main">
              <a:ext uri="{FF2B5EF4-FFF2-40B4-BE49-F238E27FC236}">
                <a16:creationId xmlns:a16="http://schemas.microsoft.com/office/drawing/2014/main" id="{E038934D-3116-4B1B-9733-D699D62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67778"/>
            <a:ext cx="8077200" cy="2723083"/>
          </a:xfrm>
          <a:prstGeom xmlns:a="http://schemas.openxmlformats.org/drawingml/2006/main" prst="roundRect">
            <a:avLst>
              <a:gd name="adj" fmla="val 6996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315C6-7E18-4B47-AFB0-55A35C5B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00550"/>
            <a:ext cx="75438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expect(response.status()).toBe(200)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expect(response.headers()['content-type'])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  .toContain('application/json')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const body = await response.json()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 b="0" i="0">
                <a:solidFill>
                  <a:srgbClr val="D1E7FF"/>
                </a:solidFill>
              </a:defRPr>
            </a:pPr>
            <a:r>
              <a:rPr sz="1800" b="0" i="0">
                <a:solidFill>
                  <a:srgbClr val="D1E7FF"/>
                </a:solidFill>
              </a:rPr>
              <a:t>expect(body).toEqual(expectedExample)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091D0-87B8-4AB8-8029-C65A86CD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105650"/>
            <a:ext cx="691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0" i="0">
                <a:solidFill>
                  <a:srgbClr val="596579"/>
                </a:solidFill>
              </a:defRPr>
            </a:pPr>
            <a:r>
              <a:rPr sz="1950" b="0" i="0">
                <a:solidFill>
                  <a:srgbClr val="596579"/>
                </a:solidFill>
              </a:rPr>
              <a:t>Schema-only responses still produce status checks. Examples unlock full body assertions.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4D1C8-F6AF-4A80-99E1-D1B6AD21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Implementation anchor: selectSuccessResponseContract() in scripts/lib/openapi.ts</a:t>
            </a:r>
          </a:p>
        </p:txBody>
      </p:sp>
    </p:spTree>
    <p:extLst>
      <p:ext uri="{BB962C8B-B14F-4D97-AF65-F5344CB8AC3E}">
        <p14:creationId xmlns:p14="http://schemas.microsoft.com/office/powerpoint/2010/main" val="11618283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70F6A0DF-0224-44B1-971D-1965BEC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F4AD74-925E-4724-91E5-2F72E98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057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Step 5: Emit the test file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AF2F67-A08F-4248-B4A3-14471112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908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output is a normal Playwright spec file that can be reviewed, committed, and run.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a525082144292"/>
          <a:stretch xmlns:a="http://schemas.openxmlformats.org/drawingml/2006/main"/>
        </p:blipFill>
        <p:spPr>
          <a:xfrm xmlns:a="http://schemas.openxmlformats.org/drawingml/2006/main">
            <a:off x="819150" y="4164097"/>
            <a:ext cx="4000500" cy="12081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C9D8B-C5EF-4758-89D2-96D8D32A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EE7EE-829D-4EF6-8929-5CF4643C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E9645-7120-41DF-8B48-766AAD8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781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GET /v2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B4715-14CB-4663-BBF1-95A3E937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912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1B0B1-F73D-4FDA-ACD1-4584198D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76900"/>
            <a:ext cx="238125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CF917-75AC-4E90-A2E9-273D96C4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817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test()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3E88B-B587-4E09-8647-C964DF0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667500"/>
            <a:ext cx="152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one generated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470AD-9C5A-495C-8F6E-F61681E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10450"/>
            <a:ext cx="6210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Generated file: `tests/generated/openapi.spec.ts`</a:t>
            </a:r>
          </a:p>
        </p:txBody>
      </p:sp>
      <p:sp>
        <p:nvSpPr>
          <p:cNvPr id="13" name="code-block">
            <a:extLst xmlns:a="http://schemas.openxmlformats.org/drawingml/2006/main">
              <a:ext uri="{FF2B5EF4-FFF2-40B4-BE49-F238E27FC236}">
                <a16:creationId xmlns:a16="http://schemas.microsoft.com/office/drawing/2014/main" id="{BD2570A0-C6E0-43D5-9ADF-3D1D224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21432"/>
            <a:ext cx="8905875" cy="6348298"/>
          </a:xfrm>
          <a:prstGeom xmlns:a="http://schemas.openxmlformats.org/drawingml/2006/main" prst="roundRect">
            <a:avLst>
              <a:gd name="adj" fmla="val 3001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C883B-595E-4BB6-A96B-E57C92E5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8382000" cy="243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import { expect, test } from '@playwright/test'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test.describe('OpenAPI generated contract examples', () =&gt; {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  test('GET /v2 getVersionDetailsv2 returns 200', async ({ request }) =&gt; {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    const response = await request.get('/v2')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    expect(response.status()).toBe(200)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    const body = await response.json()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    expect(body).toEqual({...})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  })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 i="0">
                <a:solidFill>
                  <a:srgbClr val="D1E7FF"/>
                </a:solidFill>
              </a:defRPr>
            </a:pPr>
            <a:r>
              <a:rPr sz="1350" b="0" i="0">
                <a:solidFill>
                  <a:srgbClr val="D1E7FF"/>
                </a:solidFill>
              </a:rPr>
              <a:t>})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7D0C2-FC23-4FA3-BAA4-BEB57F7E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Spec-driven API test automation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3719425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58D1B42-308F-4AB2-B5FA-C94215AA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9AD880-00B1-4476-BE4F-E4842805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610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Run against the demo API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A1A06C7-DE98-4151-A56B-7EFBA8C8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5657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`npm test` proves the whole learning loop end to 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1E922-20F4-42B4-A515-463187E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5760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E6D3D-00E5-48FE-A1A2-08DDA36E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npm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2C3FE-E625-4D7F-BB69-96004C7B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1257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single 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E0681-15D3-485B-9133-70065B8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512F0-FDB0-4F01-92A0-709E3516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5760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81F05-B897-42B4-AE89-3F8C0A3B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624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generate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C1C00-F95D-486B-82E5-DB9DE73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48200"/>
            <a:ext cx="1066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routes +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AD8AF-FBDD-494F-AAFF-B226C23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50FD-5053-452B-B748-92F9A262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095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4F1D7-8E76-4796-8330-5DA18791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F97316"/>
                </a:solidFill>
              </a:defRPr>
            </a:pPr>
            <a:r>
              <a:rPr sz="1875" b="1" i="0">
                <a:solidFill>
                  <a:srgbClr val="F97316"/>
                </a:solidFill>
              </a:rPr>
              <a:t>webServer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0C694-6DBA-4A1C-A774-B59A12E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starts Express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AC18C-1091-448B-A3AC-5E904D9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719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35AD2-5935-4A8B-8FAB-7FEE7780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57600"/>
            <a:ext cx="2286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1BEF2-F1EF-4357-8491-2201BACE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624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F7D32"/>
                </a:solidFill>
              </a:defRPr>
            </a:pPr>
            <a:r>
              <a:rPr sz="1875" b="1" i="0">
                <a:solidFill>
                  <a:srgbClr val="2F7D32"/>
                </a:solidFill>
              </a:rPr>
              <a:t>request fixture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AABBA-97E5-4BC4-A367-B7ABE5ED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648200"/>
            <a:ext cx="95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calls the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F8CE3-2681-4A58-AF97-BC4F40F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1719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AB6B0-B9DF-4DE5-9B95-A519FA3F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657600"/>
            <a:ext cx="2286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702A3-FBE6-460A-A48B-02F1EF17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9624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assertions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D7716-0139-4711-A09D-A1A0A78B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48200"/>
            <a:ext cx="110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contract holds</a:t>
            </a:r>
          </a:p>
        </p:txBody>
      </p:sp>
      <p:sp>
        <p:nvSpPr>
          <p:cNvPr id="23" name="code-block">
            <a:extLst xmlns:a="http://schemas.openxmlformats.org/drawingml/2006/main">
              <a:ext uri="{FF2B5EF4-FFF2-40B4-BE49-F238E27FC236}">
                <a16:creationId xmlns:a16="http://schemas.microsoft.com/office/drawing/2014/main" id="{52307D06-98B7-4CF8-A242-756C0E5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26605"/>
            <a:ext cx="16649700" cy="21431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1F053-E29C-4A1C-BE7D-ADB77DF9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53300"/>
            <a:ext cx="161163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&gt; npm test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Generated 2 API routes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Generated 2 Playwright API tests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API server listening at http://127.0.0.1:3774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2 passed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771BC-955B-44D0-822F-E72C594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Playwright webServer handles local startup, so learners do not need a second terminal.</a:t>
            </a:r>
          </a:p>
        </p:txBody>
      </p:sp>
    </p:spTree>
    <p:extLst>
      <p:ext uri="{BB962C8B-B14F-4D97-AF65-F5344CB8AC3E}">
        <p14:creationId xmlns:p14="http://schemas.microsoft.com/office/powerpoint/2010/main" val="14041126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E704BB7-F928-428E-AC2E-4977F18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0114-CA81-47B0-973E-E7683C3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487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Provided API mode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97E8D7-B99F-4FF2-8AD7-F0DFC63B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809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`BASE_URL` switches generated tests from demo mode to target-API mode.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73D0-8931-4B2B-BE06-8048D977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807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 i="0">
                <a:solidFill>
                  <a:srgbClr val="2F7D32"/>
                </a:solidFill>
              </a:defRPr>
            </a:pPr>
            <a:r>
              <a:rPr sz="2700" b="1" i="0">
                <a:solidFill>
                  <a:srgbClr val="2F7D32"/>
                </a:solidFill>
              </a:rPr>
              <a:t>1. Generate from any spec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3268E293-5302-4E6F-9AD0-24DADBDC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8248"/>
            <a:ext cx="8067675" cy="1347368"/>
          </a:xfrm>
          <a:prstGeom xmlns:a="http://schemas.openxmlformats.org/drawingml/2006/main" prst="roundRect">
            <a:avLst>
              <a:gd name="adj" fmla="val 14139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444E9-B281-448E-A595-1CB96F7B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7543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 b="0" i="0">
                <a:solidFill>
                  <a:srgbClr val="D1E7FF"/>
                </a:solidFill>
              </a:defRPr>
            </a:pPr>
            <a:r>
              <a:rPr sz="1650" b="0" i="0">
                <a:solidFill>
                  <a:srgbClr val="D1E7FF"/>
                </a:solidFill>
              </a:rPr>
              <a:t>npm run generate:from-spec -- \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0" i="0">
                <a:solidFill>
                  <a:srgbClr val="D1E7FF"/>
                </a:solidFill>
              </a:defRPr>
            </a:pPr>
            <a:r>
              <a:rPr sz="1650" b="0" i="0">
                <a:solidFill>
                  <a:srgbClr val="D1E7FF"/>
                </a:solidFill>
              </a:rPr>
              <a:t>  --spec ./path/to/openapi.yaml \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0" i="0">
                <a:solidFill>
                  <a:srgbClr val="D1E7FF"/>
                </a:solidFill>
              </a:defRPr>
            </a:pPr>
            <a:r>
              <a:rPr sz="1650" b="0" i="0">
                <a:solidFill>
                  <a:srgbClr val="D1E7FF"/>
                </a:solidFill>
              </a:rPr>
              <a:t>  --output tests/generated/openapi.spec.ts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2B7E8-2354-40A1-9AE6-DE886685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647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input can be a local YAML/JSON file or an HTTP(S) URL.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BD22D-63B0-49BE-A706-70D6A12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33900"/>
            <a:ext cx="807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 i="0">
                <a:solidFill>
                  <a:srgbClr val="2563EB"/>
                </a:solidFill>
              </a:defRPr>
            </a:pPr>
            <a:r>
              <a:rPr sz="2700" b="1" i="0">
                <a:solidFill>
                  <a:srgbClr val="2563EB"/>
                </a:solidFill>
              </a:rPr>
              <a:t>2. Run against the target</a:t>
            </a:r>
          </a:p>
        </p:txBody>
      </p:sp>
      <p:sp>
        <p:nvSpPr>
          <p:cNvPr id="9" name="code-block">
            <a:extLst xmlns:a="http://schemas.openxmlformats.org/drawingml/2006/main">
              <a:ext uri="{FF2B5EF4-FFF2-40B4-BE49-F238E27FC236}">
                <a16:creationId xmlns:a16="http://schemas.microsoft.com/office/drawing/2014/main" id="{B634D3CE-86FC-470D-BFD1-3080412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147577"/>
            <a:ext cx="8067675" cy="1131570"/>
          </a:xfrm>
          <a:prstGeom xmlns:a="http://schemas.openxmlformats.org/drawingml/2006/main" prst="roundRect">
            <a:avLst>
              <a:gd name="adj" fmla="val 16835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AF2A4-EBCB-4002-AF62-7F99DE66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72100"/>
            <a:ext cx="7543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BASE_URL=https://api.example.com \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 i="0">
                <a:solidFill>
                  <a:srgbClr val="D1E7FF"/>
                </a:solidFill>
              </a:defRPr>
            </a:pPr>
            <a:r>
              <a:rPr sz="1875" b="0" i="0">
                <a:solidFill>
                  <a:srgbClr val="D1E7FF"/>
                </a:solidFill>
              </a:rPr>
              <a:t>  npm run test:generated</a:t>
            </a:r>
          </a:p>
        </p:txBody>
      </p:sp>
      <p:sp>
        <p:nvSpPr>
          <p:cNvPr id="11" name="pill-BASE_URL set">
            <a:extLst xmlns:a="http://schemas.openxmlformats.org/drawingml/2006/main">
              <a:ext uri="{FF2B5EF4-FFF2-40B4-BE49-F238E27FC236}">
                <a16:creationId xmlns:a16="http://schemas.microsoft.com/office/drawing/2014/main" id="{0AF2904F-E31F-4BCB-8C8F-55960A68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515100"/>
            <a:ext cx="2381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3FE82-C588-4942-B54A-D949FE2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66750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BASE_URL 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AAE1B-EC30-40E1-8AB5-D4989F4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496050"/>
            <a:ext cx="3733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Playwright skips local server startup.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2FBEE-806E-4519-9576-3F3E4E5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Spec-driven API test automation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9587366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C18D240-5351-4997-BFBB-3D8F8DC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C114ED-5714-4B83-B077-BF77B8B5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76771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Limits and next improvements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B023CB-3A99-4CC3-B0BB-352A8ADB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813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596579"/>
                </a:solidFill>
              </a:defRPr>
            </a:pPr>
            <a:r>
              <a:rPr sz="1875" b="0" i="0">
                <a:solidFill>
                  <a:srgbClr val="596579"/>
                </a:solidFill>
              </a:rPr>
              <a:t>The current generator is intentionally teachable. The next upgrades are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367C5-37C7-4AD8-81DE-7F0695F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8039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150" b="1" i="0">
                <a:solidFill>
                  <a:srgbClr val="F97316"/>
                </a:solidFill>
              </a:defRPr>
            </a:pPr>
            <a:r>
              <a:rPr sz="3150" b="1" i="0">
                <a:solidFill>
                  <a:srgbClr val="F97316"/>
                </a:solidFill>
              </a:rPr>
              <a:t>Current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11E99-067A-453A-8416-97F75C6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F97316"/>
                </a:solidFill>
              </a:defRPr>
            </a:pPr>
            <a:r>
              <a:rPr sz="5400" b="1" i="0">
                <a:solidFill>
                  <a:srgbClr val="F97316"/>
                </a:solidFill>
              </a:rPr>
              <a:t>L1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81357-79DE-43DD-8CF8-52923C22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95800"/>
            <a:ext cx="699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$ref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5CFB7-790E-4ABD-9058-9BF81D3C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72050"/>
            <a:ext cx="1885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Not expanded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9F32-63E6-4DCA-9EB3-9075C98D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F97316"/>
                </a:solidFill>
              </a:defRPr>
            </a:pPr>
            <a:r>
              <a:rPr sz="5400" b="1" i="0">
                <a:solidFill>
                  <a:srgbClr val="F97316"/>
                </a:solidFill>
              </a:rPr>
              <a:t>L2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04E46-4440-49AE-8FBE-F7014DA5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72150"/>
            <a:ext cx="699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Schema-only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D430F-D49D-4320-B4F2-1E9C1F9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2686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Produce status-only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E8ED3-6739-4039-864E-EEDFE056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771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1" i="0">
                <a:solidFill>
                  <a:srgbClr val="F97316"/>
                </a:solidFill>
              </a:defRPr>
            </a:pPr>
            <a:r>
              <a:rPr sz="5400" b="1" i="0">
                <a:solidFill>
                  <a:srgbClr val="F97316"/>
                </a:solidFill>
              </a:rPr>
              <a:t>L3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1D024-30D7-4506-9208-235608A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315200"/>
            <a:ext cx="699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AC20E-CF5B-4F7D-A8B8-3578E03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791450"/>
            <a:ext cx="367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 b="0" i="0">
                <a:solidFill>
                  <a:srgbClr val="596579"/>
                </a:solidFill>
              </a:defRPr>
            </a:pPr>
            <a:r>
              <a:rPr sz="1800" b="0" i="0">
                <a:solidFill>
                  <a:srgbClr val="596579"/>
                </a:solidFill>
              </a:rPr>
              <a:t>Configured separately in Playwright.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54C39-371C-4681-9614-FFB9873F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8039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150" b="1" i="0">
                <a:solidFill>
                  <a:srgbClr val="2F7D32"/>
                </a:solidFill>
              </a:defRPr>
            </a:pPr>
            <a:r>
              <a:rPr sz="3150" b="1" i="0">
                <a:solidFill>
                  <a:srgbClr val="2F7D32"/>
                </a:solidFill>
              </a:rPr>
              <a:t>Upgrade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3F9C4-87AA-4432-B072-C651382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1714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86BE1-15B9-485B-BE26-C9A61C35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57800"/>
            <a:ext cx="137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Edit spec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B72D8-8C8E-49BE-BFCC-D7F1957B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4360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examples + schemas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806C6-3AB1-46F0-BD0F-D64F763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4673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3E11E-4C13-457C-B8C5-78AD62C7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067300"/>
            <a:ext cx="1714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99445-09B8-47FF-87BD-C53B777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372100"/>
            <a:ext cx="137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Generate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AB8F9-B108-4247-9492-E5F14991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05790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tests refresh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39FDA-F0A8-4ED6-8FCA-A2FC8D0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46735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2C586-C892-43EE-A31F-BD23E4E3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067300"/>
            <a:ext cx="1714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E4C5F-C36E-41DF-80D6-F9E7621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372100"/>
            <a:ext cx="137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F7D32"/>
                </a:solidFill>
              </a:defRPr>
            </a:pPr>
            <a:r>
              <a:rPr sz="1875" b="1" i="0">
                <a:solidFill>
                  <a:srgbClr val="2F7D32"/>
                </a:solidFill>
              </a:rPr>
              <a:t>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299B4-AF58-45A9-9D5B-9AD1F20E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6057900"/>
            <a:ext cx="121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contract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54058-652A-4DAA-8B79-C91C434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62940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7"/>
          </a:solidFill>
          <a:ln xmlns:a="http://schemas.openxmlformats.org/drawingml/2006/main" w="0">
            <a:solidFill>
              <a:srgbClr val="D6CA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D9A6A-B8B8-44D0-9FF8-B1D1DB69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877050"/>
            <a:ext cx="6591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Next: schema validation, negative tests, auth profiles, multi-example generation, and CI.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EDD92C-70E7-4146-931F-8669A48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Close the loop: spec changes should regenerate executable evidence.</a:t>
            </a:r>
          </a:p>
        </p:txBody>
      </p:sp>
    </p:spTree>
    <p:extLst>
      <p:ext uri="{BB962C8B-B14F-4D97-AF65-F5344CB8AC3E}">
        <p14:creationId xmlns:p14="http://schemas.microsoft.com/office/powerpoint/2010/main" val="16774356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C449279-E0AA-45F5-B13B-B5E0E7C6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homework-title">
            <a:extLst xmlns:a="http://schemas.openxmlformats.org/drawingml/2006/main">
              <a:ext uri="{FF2B5EF4-FFF2-40B4-BE49-F238E27FC236}">
                <a16:creationId xmlns:a16="http://schemas.microsoft.com/office/drawing/2014/main" id="{D29B3286-47E0-41C2-A786-D6989976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7810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400" b="1" i="0">
                <a:solidFill>
                  <a:srgbClr val="172033"/>
                </a:solidFill>
              </a:defRPr>
            </a:pPr>
            <a:r>
              <a:rPr sz="5400" b="1" i="0">
                <a:solidFill>
                  <a:srgbClr val="172033"/>
                </a:solidFill>
              </a:rPr>
              <a:t>Homework</a:t>
            </a:r>
          </a:p>
        </p:txBody>
      </p:sp>
      <p:sp>
        <p:nvSpPr>
          <p:cNvPr id="3" name="homework-subtitle">
            <a:extLst xmlns:a="http://schemas.openxmlformats.org/drawingml/2006/main">
              <a:ext uri="{FF2B5EF4-FFF2-40B4-BE49-F238E27FC236}">
                <a16:creationId xmlns:a16="http://schemas.microsoft.com/office/drawing/2014/main" id="{B5E036C2-49FB-4D63-92B9-65215839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458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0" i="0">
                <a:solidFill>
                  <a:srgbClr val="596579"/>
                </a:solidFill>
              </a:defRPr>
            </a:pPr>
            <a:r>
              <a:rPr sz="2175" b="0" i="0">
                <a:solidFill>
                  <a:srgbClr val="596579"/>
                </a:solidFill>
              </a:rPr>
              <a:t>Explore public test APIs: read docs, write Playwright tests, run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46DCB-E320-4C15-A92D-9E669280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286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9035C-071A-432D-91F7-CD2D943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71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65B32E"/>
                </a:solidFill>
              </a:defRPr>
            </a:pPr>
            <a:r>
              <a:rPr sz="1875" b="1" i="0">
                <a:solidFill>
                  <a:srgbClr val="65B32E"/>
                </a:solidFill>
              </a:rPr>
              <a:t>Read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D6C24-EC84-422F-AF2D-4CFCB20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167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understand endpoints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E6603-AC52-4107-BE90-28DA557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670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27227-E637-41E1-9EE8-F3B72B7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2286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5DDC9-6BCF-4FAF-A536-2F8B375C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</a:defRPr>
            </a:pPr>
            <a:r>
              <a:rPr sz="1875" b="1" i="0">
                <a:solidFill>
                  <a:srgbClr val="2563EB"/>
                </a:solidFill>
              </a:rPr>
              <a:t>Write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801A2-BDA0-4897-A659-326F38A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1409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use request fixture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F7251-818F-41ED-BC7A-A51DF346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670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 i="0">
                <a:solidFill>
                  <a:srgbClr val="596579"/>
                </a:solidFill>
              </a:defRPr>
            </a:pPr>
            <a:r>
              <a:rPr sz="2850" b="1" i="0">
                <a:solidFill>
                  <a:srgbClr val="596579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A8C11-CDAE-4A7F-8CB2-A286D65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66950"/>
            <a:ext cx="22860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0FF93-714C-411B-B835-3216C540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571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 i="0">
                <a:solidFill>
                  <a:srgbClr val="F97316"/>
                </a:solidFill>
              </a:defRPr>
            </a:pPr>
            <a:r>
              <a:rPr sz="1875" b="1" i="0">
                <a:solidFill>
                  <a:srgbClr val="F97316"/>
                </a:solidFill>
              </a:rPr>
              <a:t>Run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7DC6F-5F08-4AE5-86C8-DB390A75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5755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inspect behavior</a:t>
            </a:r>
          </a:p>
        </p:txBody>
      </p:sp>
      <p:sp>
        <p:nvSpPr>
          <p:cNvPr id="15" name="homework-Swagger Petstore">
            <a:extLst xmlns:a="http://schemas.openxmlformats.org/drawingml/2006/main">
              <a:ext uri="{FF2B5EF4-FFF2-40B4-BE49-F238E27FC236}">
                <a16:creationId xmlns:a16="http://schemas.microsoft.com/office/drawing/2014/main" id="{4BCA9AE5-E713-460C-8E08-A11CB43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1557"/>
            <a:ext cx="538480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2F846-DB23-4079-A78C-DE5B962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 i="0">
                <a:solidFill>
                  <a:srgbClr val="2F7D32"/>
                </a:solidFill>
              </a:defRPr>
            </a:pPr>
            <a:r>
              <a:rPr sz="2325" b="1" i="0">
                <a:solidFill>
                  <a:srgbClr val="2F7D32"/>
                </a:solidFill>
              </a:rPr>
              <a:t>Swagger Petstore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B3AF6-50DC-4CAE-9C66-FDE3B861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0" i="0">
                <a:solidFill>
                  <a:srgbClr val="596579"/>
                </a:solidFill>
              </a:defRPr>
            </a:pPr>
            <a:r>
              <a:rPr sz="1275" b="0" i="0">
                <a:solidFill>
                  <a:srgbClr val="596579"/>
                </a:solidFill>
              </a:rPr>
              <a:t>petstore.swagger.io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1EA40-FF76-47A7-92D3-E50D4E1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7"/>
          </a:solidFill>
          <a:ln xmlns:a="http://schemas.openxmlformats.org/drawingml/2006/main" w="0">
            <a:solidFill>
              <a:srgbClr val="D6CA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41992-2822-49BA-A123-7F7B26C7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172033"/>
                </a:solidFill>
              </a:defRPr>
            </a:pPr>
            <a:r>
              <a:rPr sz="1650" b="1" i="0">
                <a:solidFill>
                  <a:srgbClr val="172033"/>
                </a:solidFill>
              </a:rPr>
              <a:t>Best for: OpenAPI basics and tooling compatibility.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BDCDE-8C21-496D-B4F3-9422509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1025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596579"/>
                </a:solidFill>
              </a:defRPr>
            </a:pPr>
            <a:r>
              <a:rPr sz="1650" b="0" i="0">
                <a:solidFill>
                  <a:srgbClr val="596579"/>
                </a:solidFill>
              </a:rPr>
              <a:t>Cover at least one GET and one POST using the Swagger UI spec.</a:t>
            </a:r>
          </a:p>
        </p:txBody>
      </p:sp>
      <p:sp>
        <p:nvSpPr>
          <p:cNvPr id="21" name="homework-Restful-Booker">
            <a:extLst xmlns:a="http://schemas.openxmlformats.org/drawingml/2006/main">
              <a:ext uri="{FF2B5EF4-FFF2-40B4-BE49-F238E27FC236}">
                <a16:creationId xmlns:a16="http://schemas.microsoft.com/office/drawing/2014/main" id="{C53097DE-38E3-455D-8CC7-99D8066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921557"/>
            <a:ext cx="538480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EDBD0-F9BC-47B9-85B8-04A70F8A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 i="0">
                <a:solidFill>
                  <a:srgbClr val="2563EB"/>
                </a:solidFill>
              </a:defRPr>
            </a:pPr>
            <a:r>
              <a:rPr sz="2325" b="1" i="0">
                <a:solidFill>
                  <a:srgbClr val="2563EB"/>
                </a:solidFill>
              </a:rPr>
              <a:t>Restful-Booker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96B60-14A5-4E17-84BB-AFA62C5B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482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0" i="0">
                <a:solidFill>
                  <a:srgbClr val="596579"/>
                </a:solidFill>
              </a:defRPr>
            </a:pPr>
            <a:r>
              <a:rPr sz="1275" b="0" i="0">
                <a:solidFill>
                  <a:srgbClr val="596579"/>
                </a:solidFill>
              </a:rPr>
              <a:t>restful-booker.herokuapp.com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8B12F-B23A-4FCC-8FA1-2278347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911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7"/>
          </a:solidFill>
          <a:ln xmlns:a="http://schemas.openxmlformats.org/drawingml/2006/main" w="0">
            <a:solidFill>
              <a:srgbClr val="D6CA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46589-1C5B-43EE-8625-F685AE7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172033"/>
                </a:solidFill>
              </a:defRPr>
            </a:pPr>
            <a:r>
              <a:rPr sz="1650" b="1" i="0">
                <a:solidFill>
                  <a:srgbClr val="172033"/>
                </a:solidFill>
              </a:rPr>
              <a:t>Best for: CRUD flows, auth, and bug discovery.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83C1D1-2E81-4636-9B89-235B802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4355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596579"/>
                </a:solidFill>
              </a:defRPr>
            </a:pPr>
            <a:r>
              <a:rPr sz="1650" b="0" i="0">
                <a:solidFill>
                  <a:srgbClr val="596579"/>
                </a:solidFill>
              </a:rPr>
              <a:t>Authenticate, then create, retrieve, and delete a booking.</a:t>
            </a:r>
          </a:p>
        </p:txBody>
      </p:sp>
      <p:sp>
        <p:nvSpPr>
          <p:cNvPr id="27" name="homework-Beeceptor Samples">
            <a:extLst xmlns:a="http://schemas.openxmlformats.org/drawingml/2006/main">
              <a:ext uri="{FF2B5EF4-FFF2-40B4-BE49-F238E27FC236}">
                <a16:creationId xmlns:a16="http://schemas.microsoft.com/office/drawing/2014/main" id="{B602648D-7CC5-4523-9C45-F673D132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921557"/>
            <a:ext cx="538480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509C9-E97E-41B3-B00B-58609768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17195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 i="0">
                <a:solidFill>
                  <a:srgbClr val="F97316"/>
                </a:solidFill>
              </a:defRPr>
            </a:pPr>
            <a:r>
              <a:rPr sz="2325" b="1" i="0">
                <a:solidFill>
                  <a:srgbClr val="F97316"/>
                </a:solidFill>
              </a:rPr>
              <a:t>Beeceptor Samples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9C8D5-61F0-4ADE-9C8C-2D97080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6482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0" i="0">
                <a:solidFill>
                  <a:srgbClr val="596579"/>
                </a:solidFill>
              </a:defRPr>
            </a:pPr>
            <a:r>
              <a:rPr sz="1275" b="0" i="0">
                <a:solidFill>
                  <a:srgbClr val="596579"/>
                </a:solidFill>
              </a:rPr>
              <a:t>beeceptor.com/docs/sample-api-for-testing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1C57D-6437-44FD-AC70-1BE0644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9911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7"/>
          </a:solidFill>
          <a:ln xmlns:a="http://schemas.openxmlformats.org/drawingml/2006/main" w="0">
            <a:solidFill>
              <a:srgbClr val="D6CA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C2C2E-EF68-433E-BE8A-656CDA5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1435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172033"/>
                </a:solidFill>
              </a:defRPr>
            </a:pPr>
            <a:r>
              <a:rPr sz="1650" b="1" i="0">
                <a:solidFill>
                  <a:srgbClr val="172033"/>
                </a:solidFill>
              </a:rPr>
              <a:t>Best for: quick JSON response prototyping.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EB8BC7-65A3-4750-850F-A393749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54355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596579"/>
                </a:solidFill>
              </a:defRPr>
            </a:pPr>
            <a:r>
              <a:rPr sz="1650" b="0" i="0">
                <a:solidFill>
                  <a:srgbClr val="596579"/>
                </a:solidFill>
              </a:rPr>
              <a:t>Pick one sample API and validate its responses with Playwright.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358D1-67A9-4B25-ADFF-4822CD1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629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50" b="0" i="0">
                <a:solidFill>
                  <a:srgbClr val="8B7D68"/>
                </a:solidFill>
              </a:defRPr>
            </a:pPr>
            <a:r>
              <a:rPr sz="1050" b="0" i="0">
                <a:solidFill>
                  <a:srgbClr val="8B7D68"/>
                </a:solidFill>
              </a:rPr>
              <a:t>Homework source: homework.md</a:t>
            </a:r>
          </a:p>
        </p:txBody>
      </p:sp>
    </p:spTree>
    <p:extLst>
      <p:ext uri="{BB962C8B-B14F-4D97-AF65-F5344CB8AC3E}">
        <p14:creationId xmlns:p14="http://schemas.microsoft.com/office/powerpoint/2010/main" val="1445692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2026-04-28T18:37:56.0330000Z</dcterms:created>
  <dcterms:modified xsi:type="dcterms:W3CDTF">2026-04-28T18:37:56.0330000Z</dcterms:modified>
</coreProperties>
</file>